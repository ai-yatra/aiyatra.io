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F9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25400"/>
          </a:xfrm>
          <a:prstGeom prst="rect">
            <a:avLst/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iyatra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73152"/>
            <a:ext cx="512064" cy="4663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88136" y="9144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72520"/>
                </a:solidFill>
                <a:latin typeface="DM Sans"/>
              </a:defRPr>
            </a:pPr>
            <a:r>
              <a:t>AI Yatra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" y="310896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1">
                <a:solidFill>
                  <a:srgbClr val="68635A"/>
                </a:solidFill>
                <a:latin typeface="DM Sans"/>
              </a:defRPr>
            </a:pPr>
            <a:r>
              <a:t>RESEARCH · BUILD · TRANSFORM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28016"/>
            <a:ext cx="58521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00" b="0">
                <a:solidFill>
                  <a:srgbClr val="68635A"/>
                </a:solidFill>
                <a:latin typeface="DM Sans"/>
              </a:defRPr>
            </a:pPr>
            <a:r>
              <a:t>Events     Community     Approach     Testimonials     About     Ambassadors     Blog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56140" y="173228"/>
            <a:ext cx="1993392" cy="438912"/>
          </a:xfrm>
          <a:prstGeom prst="roundRect">
            <a:avLst>
              <a:gd name="adj" fmla="val 1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692640" y="109728"/>
            <a:ext cx="1993392" cy="438912"/>
          </a:xfrm>
          <a:prstGeom prst="roundRect">
            <a:avLst>
              <a:gd name="adj" fmla="val 18000"/>
            </a:avLst>
          </a:prstGeom>
          <a:solidFill>
            <a:srgbClr val="477A9E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0" y="109728"/>
            <a:ext cx="199339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1">
                <a:solidFill>
                  <a:srgbClr val="F9F7F1"/>
                </a:solidFill>
                <a:latin typeface="DM Sans"/>
              </a:defRPr>
            </a:pPr>
            <a:r>
              <a:t>Join on Meetup 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420" y="977900"/>
            <a:ext cx="2651760" cy="347472"/>
          </a:xfrm>
          <a:prstGeom prst="roundRect">
            <a:avLst>
              <a:gd name="adj" fmla="val 50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2920" y="914400"/>
            <a:ext cx="2651760" cy="347472"/>
          </a:xfrm>
          <a:prstGeom prst="roundRect">
            <a:avLst>
              <a:gd name="adj" fmla="val 50000"/>
            </a:avLst>
          </a:prstGeom>
          <a:solidFill>
            <a:srgbClr val="F5E4AD"/>
          </a:solidFill>
          <a:ln w="15875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914400"/>
            <a:ext cx="265176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272520"/>
                </a:solidFill>
                <a:latin typeface="DM Sans"/>
              </a:defRPr>
            </a:pPr>
            <a:r>
              <a:t>✦  Democratizing AI Learning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1353312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600" b="1">
                <a:solidFill>
                  <a:srgbClr val="272520"/>
                </a:solidFill>
                <a:latin typeface="Caveat"/>
              </a:defRPr>
            </a:pPr>
            <a:r>
              <a:t>Research. Build. Transform.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514600"/>
            <a:ext cx="6309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>
                <a:solidFill>
                  <a:srgbClr val="68635A"/>
                </a:solidFill>
                <a:latin typeface="DM Sans"/>
              </a:defRPr>
            </a:pPr>
            <a:r>
              <a:t>AIYatra is Hyderabad's open AI community — a place where beginners and experts share knowledge, ship real projects, and master machine learning together. No paywalls, no prerequisites. Just curiosity and a laptop.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420" y="3583940"/>
            <a:ext cx="2377440" cy="475488"/>
          </a:xfrm>
          <a:prstGeom prst="roundRect">
            <a:avLst>
              <a:gd name="adj" fmla="val 1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3520440"/>
            <a:ext cx="2377440" cy="475488"/>
          </a:xfrm>
          <a:prstGeom prst="roundRect">
            <a:avLst>
              <a:gd name="adj" fmla="val 18000"/>
            </a:avLst>
          </a:prstGeom>
          <a:solidFill>
            <a:srgbClr val="477A9E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520440"/>
            <a:ext cx="23774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1">
                <a:solidFill>
                  <a:srgbClr val="F9F7F1"/>
                </a:solidFill>
                <a:latin typeface="DM Sans"/>
              </a:defRPr>
            </a:pPr>
            <a:r>
              <a:t>RSVP to the next meetup  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26740" y="3583940"/>
            <a:ext cx="2286000" cy="475488"/>
          </a:xfrm>
          <a:prstGeom prst="roundRect">
            <a:avLst>
              <a:gd name="adj" fmla="val 1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063240" y="3520440"/>
            <a:ext cx="2286000" cy="475488"/>
          </a:xfrm>
          <a:prstGeom prst="roundRect">
            <a:avLst>
              <a:gd name="adj" fmla="val 18000"/>
            </a:avLst>
          </a:prstGeom>
          <a:solidFill>
            <a:srgbClr val="F9F7F1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63240" y="3520440"/>
            <a:ext cx="228600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1">
                <a:solidFill>
                  <a:srgbClr val="272520"/>
                </a:solidFill>
                <a:latin typeface="DM Sans"/>
              </a:defRPr>
            </a:pPr>
            <a:r>
              <a:t>Explore past events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25196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72520"/>
                </a:solidFill>
                <a:latin typeface="Caveat"/>
              </a:defRPr>
            </a:pPr>
            <a:r>
              <a:t>2,957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7091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8635A"/>
                </a:solidFill>
                <a:latin typeface="DM Sans"/>
              </a:defRPr>
            </a:pPr>
            <a:r>
              <a:t>COMMUNITY MEMBERS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425196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72520"/>
                </a:solidFill>
                <a:latin typeface="Caveat"/>
              </a:defRPr>
            </a:pPr>
            <a:r>
              <a:t>14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23160" y="47091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8635A"/>
                </a:solidFill>
                <a:latin typeface="DM Sans"/>
              </a:defRPr>
            </a:pPr>
            <a:r>
              <a:t>EVENTS HOSTED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43400" y="4251960"/>
            <a:ext cx="1737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72520"/>
                </a:solidFill>
                <a:latin typeface="Caveat"/>
              </a:defRPr>
            </a:pPr>
            <a:r>
              <a:t>4.6★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47091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8635A"/>
                </a:solidFill>
                <a:latin typeface="DM Sans"/>
              </a:defRPr>
            </a:pPr>
            <a:r>
              <a:t>FROM 90 RATINGS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87260" y="977900"/>
            <a:ext cx="4434840" cy="4709160"/>
          </a:xfrm>
          <a:prstGeom prst="roundRect">
            <a:avLst>
              <a:gd name="adj" fmla="val 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223760" y="914400"/>
            <a:ext cx="4434840" cy="4709160"/>
          </a:xfrm>
          <a:prstGeom prst="roundRect">
            <a:avLst>
              <a:gd name="adj" fmla="val 8000"/>
            </a:avLst>
          </a:prstGeom>
          <a:solidFill>
            <a:srgbClr val="F9F7F1"/>
          </a:solidFill>
          <a:ln w="22225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561580" y="120650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498080" y="1143000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F5E4AD"/>
          </a:solidFill>
          <a:ln w="15875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0" y="1143000"/>
            <a:ext cx="14630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272520"/>
                </a:solidFill>
                <a:latin typeface="DM Sans"/>
              </a:defRPr>
            </a:pPr>
            <a:r>
              <a:t>🎟  Next meetup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1143000"/>
            <a:ext cx="2103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477A9E"/>
                </a:solidFill>
                <a:latin typeface="DM Sans"/>
              </a:defRPr>
            </a:pPr>
            <a:r>
              <a:t>● RSVP open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0" y="1554480"/>
            <a:ext cx="3886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72520"/>
                </a:solidFill>
                <a:latin typeface="Caveat"/>
              </a:defRPr>
            </a:pPr>
            <a:r>
              <a:t>Harnessing Agentic AI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80" y="2194560"/>
            <a:ext cx="3886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68635A"/>
                </a:solidFill>
                <a:latin typeface="DM Sans"/>
              </a:defRPr>
            </a:pPr>
            <a:r>
              <a:t>Build the loop, the tools and the guardrails — and make your own coding agent that reads, plans, edits, tests and repairs its way to a verified pull request. 100% offline, zero API keys.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98080" y="2971800"/>
            <a:ext cx="1828800" cy="868680"/>
          </a:xfrm>
          <a:prstGeom prst="roundRect">
            <a:avLst>
              <a:gd name="adj" fmla="val 15000"/>
            </a:avLst>
          </a:prstGeom>
          <a:solidFill>
            <a:srgbClr val="CEE1EE"/>
          </a:solidFill>
          <a:ln w="15875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35240" y="301752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8635A"/>
                </a:solidFill>
                <a:latin typeface="DM Sans"/>
              </a:defRPr>
            </a:pPr>
            <a:r>
              <a:t>WHEN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35240" y="32461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72520"/>
                </a:solidFill>
                <a:latin typeface="DM Sans"/>
              </a:defRPr>
            </a:pPr>
            <a:r>
              <a:t>Sat, Sep 5 · 9:00 AM IST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555480" y="2971800"/>
            <a:ext cx="1828800" cy="868680"/>
          </a:xfrm>
          <a:prstGeom prst="roundRect">
            <a:avLst>
              <a:gd name="adj" fmla="val 15000"/>
            </a:avLst>
          </a:prstGeom>
          <a:solidFill>
            <a:srgbClr val="D4E7D0"/>
          </a:solidFill>
          <a:ln w="15875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692640" y="301752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8635A"/>
                </a:solidFill>
                <a:latin typeface="DM Sans"/>
              </a:defRPr>
            </a:pPr>
            <a:r>
              <a:t>ATTENDING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92640" y="324612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72520"/>
                </a:solidFill>
                <a:latin typeface="DM Sans"/>
              </a:defRPr>
            </a:pPr>
            <a:r>
              <a:t>319 learners &amp; counting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26680" y="3977640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8635A"/>
                </a:solidFill>
                <a:latin typeface="DM Sans"/>
              </a:defRPr>
            </a:pPr>
            <a:r>
              <a:t>1   The agent loop — the core inside Claude Code &amp; Codex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26680" y="427024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8635A"/>
                </a:solidFill>
                <a:latin typeface="DM Sans"/>
              </a:defRPr>
            </a:pPr>
            <a:r>
              <a:t>2   Tools, planning &amp; self-repair in pure Python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26680" y="4562856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8635A"/>
                </a:solidFill>
                <a:latin typeface="DM Sans"/>
              </a:defRPr>
            </a:pPr>
            <a:r>
              <a:t>3   Guardrails &amp; sandboxing — 100% offline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561580" y="5001260"/>
            <a:ext cx="3886200" cy="457200"/>
          </a:xfrm>
          <a:prstGeom prst="roundRect">
            <a:avLst>
              <a:gd name="adj" fmla="val 1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7498080" y="4937760"/>
            <a:ext cx="3886200" cy="457200"/>
          </a:xfrm>
          <a:prstGeom prst="roundRect">
            <a:avLst>
              <a:gd name="adj" fmla="val 18000"/>
            </a:avLst>
          </a:prstGeom>
          <a:solidFill>
            <a:srgbClr val="477A9E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498080" y="4937760"/>
            <a:ext cx="3886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1">
                <a:solidFill>
                  <a:srgbClr val="F9F7F1"/>
                </a:solidFill>
                <a:latin typeface="DM Sans"/>
              </a:defRPr>
            </a:pPr>
            <a:r>
              <a:t>RSVP now  →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400800"/>
            <a:ext cx="12188952" cy="63500"/>
          </a:xfrm>
          <a:prstGeom prst="rect">
            <a:avLst/>
          </a:prstGeom>
          <a:solidFill>
            <a:srgbClr val="F5E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6464300"/>
            <a:ext cx="12188952" cy="393700"/>
          </a:xfrm>
          <a:prstGeom prst="rect">
            <a:avLst/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4320" y="650240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F9F7F1"/>
                </a:solidFill>
                <a:latin typeface="DM Sans"/>
              </a:defRPr>
            </a:pPr>
            <a:r>
              <a:t>aiyatra.io   •   linkedin.com/company/aiyatra   •   global.aiyatra@gmail.com   •   meetup.com/aiyatra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0" y="65024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F9F7F1"/>
                </a:solidFill>
                <a:latin typeface="DM Sans"/>
              </a:defRPr>
            </a:pPr>
            <a:r>
              <a:t>© 2026 AIYatra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C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F9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25400"/>
          </a:xfrm>
          <a:prstGeom prst="rect">
            <a:avLst/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iyatra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73152"/>
            <a:ext cx="512064" cy="4663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88136" y="9144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72520"/>
                </a:solidFill>
                <a:latin typeface="DM Sans"/>
              </a:defRPr>
            </a:pPr>
            <a:r>
              <a:t>AI Yatra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" y="310896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1">
                <a:solidFill>
                  <a:srgbClr val="68635A"/>
                </a:solidFill>
                <a:latin typeface="DM Sans"/>
              </a:defRPr>
            </a:pPr>
            <a:r>
              <a:t>RESEARCH · BUILD · TRANSFORM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28016"/>
            <a:ext cx="58521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00" b="0">
                <a:solidFill>
                  <a:srgbClr val="68635A"/>
                </a:solidFill>
                <a:latin typeface="DM Sans"/>
              </a:defRPr>
            </a:pPr>
            <a:r>
              <a:t>Events     Community     Approach     Testimonials     About     Ambassadors     Blog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56140" y="173228"/>
            <a:ext cx="1993392" cy="438912"/>
          </a:xfrm>
          <a:prstGeom prst="roundRect">
            <a:avLst>
              <a:gd name="adj" fmla="val 1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692640" y="109728"/>
            <a:ext cx="1993392" cy="438912"/>
          </a:xfrm>
          <a:prstGeom prst="roundRect">
            <a:avLst>
              <a:gd name="adj" fmla="val 18000"/>
            </a:avLst>
          </a:prstGeom>
          <a:solidFill>
            <a:srgbClr val="477A9E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0" y="109728"/>
            <a:ext cx="199339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1">
                <a:solidFill>
                  <a:srgbClr val="F9F7F1"/>
                </a:solidFill>
                <a:latin typeface="DM Sans"/>
              </a:defRPr>
            </a:pPr>
            <a:r>
              <a:t>Join on Meetup 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914400"/>
            <a:ext cx="11183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477A9E"/>
                </a:solidFill>
                <a:latin typeface="DM Sans"/>
              </a:defRPr>
            </a:pPr>
            <a:r>
              <a:t>●  EVENTS  ·  PAST SESSIONS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170432"/>
            <a:ext cx="111831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72520"/>
                </a:solidFill>
                <a:latin typeface="Caveat"/>
              </a:defRPr>
            </a:pPr>
            <a:r>
              <a:t>Hands-on Saturdays, archived on Meetup.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420" y="2075180"/>
            <a:ext cx="3593592" cy="2651760"/>
          </a:xfrm>
          <a:prstGeom prst="roundRect">
            <a:avLst>
              <a:gd name="adj" fmla="val 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2920" y="2011680"/>
            <a:ext cx="3593592" cy="2651760"/>
          </a:xfrm>
          <a:prstGeom prst="roundRect">
            <a:avLst>
              <a:gd name="adj" fmla="val 8000"/>
            </a:avLst>
          </a:prstGeom>
          <a:solidFill>
            <a:srgbClr val="F9F7F1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95020" y="22580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21945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CEE1EE"/>
          </a:solidFill>
          <a:ln w="15875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194560"/>
            <a:ext cx="1371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272520"/>
                </a:solidFill>
                <a:latin typeface="DM Sans"/>
              </a:defRPr>
            </a:pPr>
            <a:r>
              <a:t>◷  Past event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2606040"/>
            <a:ext cx="31363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272520"/>
                </a:solidFill>
                <a:latin typeface="Caveat"/>
              </a:defRPr>
            </a:pPr>
            <a:r>
              <a:t>PyTorch Foundations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200400"/>
            <a:ext cx="31363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68635A"/>
                </a:solidFill>
                <a:latin typeface="DM Sans"/>
              </a:defRPr>
            </a:pPr>
            <a:r>
              <a:t>Tensors, autograd and the training loop — the foundations every AI engineer stands on. Rebuilt nn.Linear from scratch.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977639"/>
            <a:ext cx="31363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272520"/>
                </a:solidFill>
                <a:latin typeface="DM Sans"/>
              </a:defRPr>
            </a:pPr>
            <a:r>
              <a:t>Sat, Aug 22 · 10:00 AM IST · 146 attended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61180" y="2075180"/>
            <a:ext cx="3593592" cy="2651760"/>
          </a:xfrm>
          <a:prstGeom prst="roundRect">
            <a:avLst>
              <a:gd name="adj" fmla="val 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97680" y="2011680"/>
            <a:ext cx="3593592" cy="2651760"/>
          </a:xfrm>
          <a:prstGeom prst="roundRect">
            <a:avLst>
              <a:gd name="adj" fmla="val 8000"/>
            </a:avLst>
          </a:prstGeom>
          <a:solidFill>
            <a:srgbClr val="F9F7F1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89780" y="22580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26280" y="21945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5E4AD"/>
          </a:solidFill>
          <a:ln w="15875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26280" y="2194560"/>
            <a:ext cx="1371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272520"/>
                </a:solidFill>
                <a:latin typeface="DM Sans"/>
              </a:defRPr>
            </a:pPr>
            <a:r>
              <a:t>◷  Past event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2606040"/>
            <a:ext cx="31363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272520"/>
                </a:solidFill>
                <a:latin typeface="Caveat"/>
              </a:defRPr>
            </a:pPr>
            <a:r>
              <a:t>Linear Algebra → Transformers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6280" y="3200400"/>
            <a:ext cx="31363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68635A"/>
                </a:solidFill>
                <a:latin typeface="DM Sans"/>
              </a:defRPr>
            </a:pPr>
            <a:r>
              <a:t>Vectors to attention: embeddings, Q/K/V projections, LoRA and SVD — the math beneath the models, by hand.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3977639"/>
            <a:ext cx="31363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272520"/>
                </a:solidFill>
                <a:latin typeface="DM Sans"/>
              </a:defRPr>
            </a:pPr>
            <a:r>
              <a:t>Sat, Aug 15 · 10:00 AM IST · 207 attended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55940" y="2075180"/>
            <a:ext cx="3593592" cy="2651760"/>
          </a:xfrm>
          <a:prstGeom prst="roundRect">
            <a:avLst>
              <a:gd name="adj" fmla="val 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092440" y="2011680"/>
            <a:ext cx="3593592" cy="2651760"/>
          </a:xfrm>
          <a:prstGeom prst="roundRect">
            <a:avLst>
              <a:gd name="adj" fmla="val 8000"/>
            </a:avLst>
          </a:prstGeom>
          <a:solidFill>
            <a:srgbClr val="F9F7F1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384540" y="22580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321040" y="21945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0D8EE"/>
          </a:solidFill>
          <a:ln w="15875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21040" y="2194560"/>
            <a:ext cx="137160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272520"/>
                </a:solidFill>
                <a:latin typeface="DM Sans"/>
              </a:defRPr>
            </a:pPr>
            <a:r>
              <a:t>◷  Past event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2606040"/>
            <a:ext cx="31363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272520"/>
                </a:solidFill>
                <a:latin typeface="Caveat"/>
              </a:defRPr>
            </a:pPr>
            <a:r>
              <a:t>DeepSeek v3 from Scratch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3200400"/>
            <a:ext cx="31363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68635A"/>
                </a:solidFill>
                <a:latin typeface="DM Sans"/>
              </a:defRPr>
            </a:pPr>
            <a:r>
              <a:t>Multi-head latent attention, MoE load balancing and RoPE scaling — the DeepSeek-V3 paper, live-coded in PyTorch.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3977639"/>
            <a:ext cx="31363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272520"/>
                </a:solidFill>
                <a:latin typeface="DM Sans"/>
              </a:defRPr>
            </a:pPr>
            <a:r>
              <a:t>Sat, Aug 8 · 10:00 AM IST · 286 attended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420" y="4955540"/>
            <a:ext cx="11183112" cy="1005840"/>
          </a:xfrm>
          <a:prstGeom prst="roundRect">
            <a:avLst>
              <a:gd name="adj" fmla="val 10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02920" y="4892040"/>
            <a:ext cx="11183112" cy="1005840"/>
          </a:xfrm>
          <a:prstGeom prst="roundRect">
            <a:avLst>
              <a:gd name="adj" fmla="val 10000"/>
            </a:avLst>
          </a:prstGeom>
          <a:solidFill>
            <a:srgbClr val="F9F7F1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" y="5029200"/>
            <a:ext cx="6858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72520"/>
                </a:solidFill>
                <a:latin typeface="Caveat"/>
              </a:defRPr>
            </a:pPr>
            <a:r>
              <a:t>The full archive lives on Meetup.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5440680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8635A"/>
                </a:solidFill>
                <a:latin typeface="DM Sans"/>
              </a:defRPr>
            </a:pPr>
            <a:r>
              <a:t>Photos, discussions, ratings and RSVPs — straight from the source.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796020" y="5229860"/>
            <a:ext cx="2560320" cy="457200"/>
          </a:xfrm>
          <a:prstGeom prst="roundRect">
            <a:avLst>
              <a:gd name="adj" fmla="val 1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732520" y="5166360"/>
            <a:ext cx="2560320" cy="457200"/>
          </a:xfrm>
          <a:prstGeom prst="roundRect">
            <a:avLst>
              <a:gd name="adj" fmla="val 18000"/>
            </a:avLst>
          </a:prstGeom>
          <a:solidFill>
            <a:srgbClr val="F9F7F1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32520" y="5166360"/>
            <a:ext cx="25603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1">
                <a:solidFill>
                  <a:srgbClr val="272520"/>
                </a:solidFill>
                <a:latin typeface="DM Sans"/>
              </a:defRPr>
            </a:pPr>
            <a:r>
              <a:t>View all on Meetup ↗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400800"/>
            <a:ext cx="12188952" cy="63500"/>
          </a:xfrm>
          <a:prstGeom prst="rect">
            <a:avLst/>
          </a:prstGeom>
          <a:solidFill>
            <a:srgbClr val="F5E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6464300"/>
            <a:ext cx="12188952" cy="393700"/>
          </a:xfrm>
          <a:prstGeom prst="rect">
            <a:avLst/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4320" y="650240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F9F7F1"/>
                </a:solidFill>
                <a:latin typeface="DM Sans"/>
              </a:defRPr>
            </a:pPr>
            <a:r>
              <a:t>aiyatra.io   •   linkedin.com/company/aiyatra   •   global.aiyatra@gmail.com   •   meetup.com/aiyatra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0" y="65024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F9F7F1"/>
                </a:solidFill>
                <a:latin typeface="DM Sans"/>
              </a:defRPr>
            </a:pPr>
            <a:r>
              <a:t>© 2026 AIYatra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7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F9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25400"/>
          </a:xfrm>
          <a:prstGeom prst="rect">
            <a:avLst/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iyatra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73152"/>
            <a:ext cx="512064" cy="4663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88136" y="9144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72520"/>
                </a:solidFill>
                <a:latin typeface="DM Sans"/>
              </a:defRPr>
            </a:pPr>
            <a:r>
              <a:t>AI Yatra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" y="310896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1">
                <a:solidFill>
                  <a:srgbClr val="68635A"/>
                </a:solidFill>
                <a:latin typeface="DM Sans"/>
              </a:defRPr>
            </a:pPr>
            <a:r>
              <a:t>RESEARCH · BUILD · TRANSFORM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28016"/>
            <a:ext cx="58521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00" b="0">
                <a:solidFill>
                  <a:srgbClr val="68635A"/>
                </a:solidFill>
                <a:latin typeface="DM Sans"/>
              </a:defRPr>
            </a:pPr>
            <a:r>
              <a:t>Events     Community     Approach     Testimonials     About     Ambassadors     Blog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56140" y="173228"/>
            <a:ext cx="1993392" cy="438912"/>
          </a:xfrm>
          <a:prstGeom prst="roundRect">
            <a:avLst>
              <a:gd name="adj" fmla="val 1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692640" y="109728"/>
            <a:ext cx="1993392" cy="438912"/>
          </a:xfrm>
          <a:prstGeom prst="roundRect">
            <a:avLst>
              <a:gd name="adj" fmla="val 18000"/>
            </a:avLst>
          </a:prstGeom>
          <a:solidFill>
            <a:srgbClr val="477A9E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0" y="109728"/>
            <a:ext cx="199339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1">
                <a:solidFill>
                  <a:srgbClr val="F9F7F1"/>
                </a:solidFill>
                <a:latin typeface="DM Sans"/>
              </a:defRPr>
            </a:pPr>
            <a:r>
              <a:t>Join on Meetup 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914400"/>
            <a:ext cx="11183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477A9E"/>
                </a:solidFill>
                <a:latin typeface="DM Sans"/>
              </a:defRPr>
            </a:pPr>
            <a:r>
              <a:t>◉  COMMUNITY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170432"/>
            <a:ext cx="111831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72520"/>
                </a:solidFill>
                <a:latin typeface="Caveat"/>
              </a:defRPr>
            </a:pPr>
            <a:r>
              <a:t>Real rooms. Real laptops. Real people.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783080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68635A"/>
                </a:solidFill>
                <a:latin typeface="DM Sans"/>
              </a:defRPr>
            </a:pPr>
            <a:r>
              <a:t>10 hands-on sessions since Hyderabad — the numbers tell the story of rooms at LSEG, International Tech Park, Madhapur where 2,957 members learn together.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420" y="2349500"/>
            <a:ext cx="3593592" cy="3108960"/>
          </a:xfrm>
          <a:prstGeom prst="roundRect">
            <a:avLst>
              <a:gd name="adj" fmla="val 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2920" y="2286000"/>
            <a:ext cx="3593592" cy="3108960"/>
          </a:xfrm>
          <a:prstGeom prst="roundRect">
            <a:avLst>
              <a:gd name="adj" fmla="val 8000"/>
            </a:avLst>
          </a:prstGeom>
          <a:solidFill>
            <a:srgbClr val="F5E4AD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24231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8635A"/>
                </a:solidFill>
                <a:latin typeface="DM Sans"/>
              </a:defRPr>
            </a:pPr>
            <a:r>
              <a:t>◉  BIGGEST ROOMS SO FAR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2788920"/>
            <a:ext cx="3044952" cy="566928"/>
          </a:xfrm>
          <a:prstGeom prst="roundRect">
            <a:avLst>
              <a:gd name="adj" fmla="val 12000"/>
            </a:avLst>
          </a:prstGeom>
          <a:solidFill>
            <a:srgbClr val="F9F7F1"/>
          </a:solidFill>
          <a:ln w="15875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28346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72520"/>
                </a:solidFill>
                <a:latin typeface="DM Sans"/>
              </a:defRPr>
            </a:pPr>
            <a:r>
              <a:t>Harnessing Agentic AI — 319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03580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8635A"/>
                </a:solidFill>
                <a:latin typeface="DM Sans"/>
              </a:defRPr>
            </a:pPr>
            <a:r>
              <a:t>#1 by turnout · Sat, Sep 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474720"/>
            <a:ext cx="3044952" cy="566928"/>
          </a:xfrm>
          <a:prstGeom prst="roundRect">
            <a:avLst>
              <a:gd name="adj" fmla="val 12000"/>
            </a:avLst>
          </a:prstGeom>
          <a:solidFill>
            <a:srgbClr val="F9F7F1"/>
          </a:solidFill>
          <a:ln w="15875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35204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72520"/>
                </a:solidFill>
                <a:latin typeface="DM Sans"/>
              </a:defRPr>
            </a:pPr>
            <a:r>
              <a:t>DeepSeek v3 from Scratch — 286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72160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8635A"/>
                </a:solidFill>
                <a:latin typeface="DM Sans"/>
              </a:defRPr>
            </a:pPr>
            <a:r>
              <a:t>#2 by turnout · Sat, Aug 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4160520"/>
            <a:ext cx="3044952" cy="566928"/>
          </a:xfrm>
          <a:prstGeom prst="roundRect">
            <a:avLst>
              <a:gd name="adj" fmla="val 12000"/>
            </a:avLst>
          </a:prstGeom>
          <a:solidFill>
            <a:srgbClr val="F9F7F1"/>
          </a:solidFill>
          <a:ln w="15875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42062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72520"/>
                </a:solidFill>
                <a:latin typeface="DM Sans"/>
              </a:defRPr>
            </a:pPr>
            <a:r>
              <a:t>Linear Algebra → Transformers — 207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407408"/>
            <a:ext cx="2743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8635A"/>
                </a:solidFill>
                <a:latin typeface="DM Sans"/>
              </a:defRPr>
            </a:pPr>
            <a:r>
              <a:t>#3 by turnout · Sat, Aug 15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61180" y="2349500"/>
            <a:ext cx="3593592" cy="3108960"/>
          </a:xfrm>
          <a:prstGeom prst="roundRect">
            <a:avLst>
              <a:gd name="adj" fmla="val 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297680" y="2286000"/>
            <a:ext cx="3593592" cy="3108960"/>
          </a:xfrm>
          <a:prstGeom prst="roundRect">
            <a:avLst>
              <a:gd name="adj" fmla="val 8000"/>
            </a:avLst>
          </a:prstGeom>
          <a:solidFill>
            <a:srgbClr val="F5F1E5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24231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8635A"/>
                </a:solidFill>
                <a:latin typeface="DM Sans"/>
              </a:defRPr>
            </a:pPr>
            <a:r>
              <a:t>▤  LEARNING TRACKS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0" y="2788920"/>
            <a:ext cx="3044952" cy="658368"/>
          </a:xfrm>
          <a:prstGeom prst="roundRect">
            <a:avLst>
              <a:gd name="adj" fmla="val 12000"/>
            </a:avLst>
          </a:prstGeom>
          <a:solidFill>
            <a:srgbClr val="F9F7F1"/>
          </a:solidFill>
          <a:ln w="1270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09160" y="2834640"/>
            <a:ext cx="2788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8635A"/>
                </a:solidFill>
                <a:latin typeface="DM Sans"/>
              </a:defRPr>
            </a:pPr>
            <a:r>
              <a:t>Foundations. Transformer paper → code, linear algebra → attention, PyTorch tensors → training loop.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0" y="3566160"/>
            <a:ext cx="3044952" cy="658368"/>
          </a:xfrm>
          <a:prstGeom prst="roundRect">
            <a:avLst>
              <a:gd name="adj" fmla="val 12000"/>
            </a:avLst>
          </a:prstGeom>
          <a:solidFill>
            <a:srgbClr val="F9F7F1"/>
          </a:solidFill>
          <a:ln w="1270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09160" y="3611880"/>
            <a:ext cx="2788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8635A"/>
                </a:solidFill>
                <a:latin typeface="DM Sans"/>
              </a:defRPr>
            </a:pPr>
            <a:r>
              <a:t>Agents. Goose end-to-end demo, DeepSeek-V3 architecture, and the Sep 5 coding-agent build.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0" y="4343400"/>
            <a:ext cx="3044952" cy="658368"/>
          </a:xfrm>
          <a:prstGeom prst="roundRect">
            <a:avLst>
              <a:gd name="adj" fmla="val 12000"/>
            </a:avLst>
          </a:prstGeom>
          <a:solidFill>
            <a:srgbClr val="F9F7F1"/>
          </a:solidFill>
          <a:ln w="1270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09160" y="4389120"/>
            <a:ext cx="27889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8635A"/>
                </a:solidFill>
                <a:latin typeface="DM Sans"/>
              </a:defRPr>
            </a:pPr>
            <a:r>
              <a:t>Reading room. A four-part evening series through the Hitchhiker's Guide to Agentic AI, Jun 30 – Jul 14.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55940" y="2349500"/>
            <a:ext cx="3593592" cy="3108960"/>
          </a:xfrm>
          <a:prstGeom prst="roundRect">
            <a:avLst>
              <a:gd name="adj" fmla="val 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092440" y="2286000"/>
            <a:ext cx="3593592" cy="3108960"/>
          </a:xfrm>
          <a:prstGeom prst="roundRect">
            <a:avLst>
              <a:gd name="adj" fmla="val 8000"/>
            </a:avLst>
          </a:prstGeom>
          <a:solidFill>
            <a:srgbClr val="D4E7D0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66760" y="24231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8635A"/>
                </a:solidFill>
                <a:latin typeface="DM Sans"/>
              </a:defRPr>
            </a:pPr>
            <a:r>
              <a:t>▦  WHAT A SATURDAY LOOKS LIKE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41080" y="28346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72520"/>
                </a:solidFill>
                <a:latin typeface="DM Sans"/>
              </a:defRPr>
            </a:pPr>
            <a:r>
              <a:t>1  9:00 — Doors &amp; check-in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41080" y="306324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8635A"/>
                </a:solidFill>
                <a:latin typeface="DM Sans"/>
              </a:defRPr>
            </a:pPr>
            <a:r>
              <a:t>RSVP plus the event Google form at the LSEG gate, then laptops open.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41080" y="36118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72520"/>
                </a:solidFill>
                <a:latin typeface="DM Sans"/>
              </a:defRPr>
            </a:pPr>
            <a:r>
              <a:t>2  Morning — Build, not slides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41080" y="38404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8635A"/>
                </a:solidFill>
                <a:latin typeface="DM Sans"/>
              </a:defRPr>
            </a:pPr>
            <a:r>
              <a:t>Live coding you follow along: tensors, attention, agent loops.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41080" y="438912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72520"/>
                </a:solidFill>
                <a:latin typeface="DM Sans"/>
              </a:defRPr>
            </a:pPr>
            <a:r>
              <a:t>3  Close — Verify &amp; network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41080" y="461772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8635A"/>
                </a:solidFill>
                <a:latin typeface="DM Sans"/>
              </a:defRPr>
            </a:pPr>
            <a:r>
              <a:t>Demos, Q&amp;A, and the hallway track where teams form.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6400800"/>
            <a:ext cx="12188952" cy="63500"/>
          </a:xfrm>
          <a:prstGeom prst="rect">
            <a:avLst/>
          </a:prstGeom>
          <a:solidFill>
            <a:srgbClr val="F5E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6464300"/>
            <a:ext cx="12188952" cy="393700"/>
          </a:xfrm>
          <a:prstGeom prst="rect">
            <a:avLst/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74320" y="650240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F9F7F1"/>
                </a:solidFill>
                <a:latin typeface="DM Sans"/>
              </a:defRPr>
            </a:pPr>
            <a:r>
              <a:t>aiyatra.io   •   linkedin.com/company/aiyatra   •   global.aiyatra@gmail.com   •   meetup.com/aiyatra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0" y="65024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F9F7F1"/>
                </a:solidFill>
                <a:latin typeface="DM Sans"/>
              </a:defRPr>
            </a:pPr>
            <a:r>
              <a:t>© 2026 AIYatra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25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25400"/>
          </a:xfrm>
          <a:prstGeom prst="rect">
            <a:avLst/>
          </a:prstGeom>
          <a:solidFill>
            <a:srgbClr val="F5E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iyatra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73152"/>
            <a:ext cx="512064" cy="4663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88136" y="9144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9F7F1"/>
                </a:solidFill>
                <a:latin typeface="DM Sans"/>
              </a:defRPr>
            </a:pPr>
            <a:r>
              <a:t>AI Yatra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" y="310896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1">
                <a:solidFill>
                  <a:srgbClr val="F5E4AD"/>
                </a:solidFill>
                <a:latin typeface="DM Sans"/>
              </a:defRPr>
            </a:pPr>
            <a:r>
              <a:t>RESEARCH · BUILD · TRANSFORM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28016"/>
            <a:ext cx="58521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00" b="0">
                <a:solidFill>
                  <a:srgbClr val="F5E4AD"/>
                </a:solidFill>
                <a:latin typeface="DM Sans"/>
              </a:defRPr>
            </a:pPr>
            <a:r>
              <a:t>Events     Community     Approach     Testimonials     About     Ambassadors     Blog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56140" y="173228"/>
            <a:ext cx="1993392" cy="438912"/>
          </a:xfrm>
          <a:prstGeom prst="roundRect">
            <a:avLst>
              <a:gd name="adj" fmla="val 1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692640" y="109728"/>
            <a:ext cx="1993392" cy="438912"/>
          </a:xfrm>
          <a:prstGeom prst="roundRect">
            <a:avLst>
              <a:gd name="adj" fmla="val 18000"/>
            </a:avLst>
          </a:prstGeom>
          <a:solidFill>
            <a:srgbClr val="477A9E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0" y="109728"/>
            <a:ext cx="199339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1">
                <a:solidFill>
                  <a:srgbClr val="F9F7F1"/>
                </a:solidFill>
                <a:latin typeface="DM Sans"/>
              </a:defRPr>
            </a:pPr>
            <a:r>
              <a:t>Join on Meetup 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914400"/>
            <a:ext cx="11183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5E4AD"/>
                </a:solidFill>
                <a:latin typeface="DM Sans"/>
              </a:defRPr>
            </a:pPr>
            <a:r>
              <a:t>OUR APPROACH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18872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9F7F1"/>
                </a:solidFill>
                <a:latin typeface="Caveat"/>
              </a:defRPr>
            </a:pPr>
            <a:r>
              <a:t>First you research. Then you build. Then you transform.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1488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9F7F1"/>
                </a:solidFill>
                <a:latin typeface="DM Sans"/>
              </a:defRPr>
            </a:pPr>
            <a:r>
              <a:t>Yatra means journey. Ours takes you from curious onlooker to confident builder — through research, build, and transform, repeated every single meetup.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880360"/>
            <a:ext cx="3593592" cy="2194560"/>
          </a:xfrm>
          <a:prstGeom prst="roundRect">
            <a:avLst>
              <a:gd name="adj" fmla="val 8000"/>
            </a:avLst>
          </a:prstGeom>
          <a:solidFill>
            <a:srgbClr val="F9F7F1"/>
          </a:solidFill>
          <a:ln w="12700">
            <a:solidFill>
              <a:srgbClr val="F9F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0740" y="312674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77240" y="306324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E0D8EE"/>
          </a:solidFill>
          <a:ln w="15875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063240"/>
            <a:ext cx="17373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272520"/>
                </a:solidFill>
                <a:latin typeface="DM Sans"/>
              </a:defRPr>
            </a:pPr>
            <a:r>
              <a:t>01 · Research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4747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72520"/>
                </a:solidFill>
                <a:latin typeface="Caveat"/>
              </a:defRPr>
            </a:pPr>
            <a:r>
              <a:t>Research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977639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8635A"/>
                </a:solidFill>
                <a:latin typeface="DM Sans"/>
              </a:defRPr>
            </a:pPr>
            <a:r>
              <a:t>We read the papers, trace the math, and ask the naive questions out loud — so nobody has to pretend they already know.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0" y="2880360"/>
            <a:ext cx="3593592" cy="2194560"/>
          </a:xfrm>
          <a:prstGeom prst="roundRect">
            <a:avLst>
              <a:gd name="adj" fmla="val 8000"/>
            </a:avLst>
          </a:prstGeom>
          <a:solidFill>
            <a:srgbClr val="F9F7F1"/>
          </a:solidFill>
          <a:ln w="12700">
            <a:solidFill>
              <a:srgbClr val="F9F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635500" y="312674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72000" y="306324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D4E7D0"/>
          </a:solidFill>
          <a:ln w="15875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3063240"/>
            <a:ext cx="17373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272520"/>
                </a:solidFill>
                <a:latin typeface="DM Sans"/>
              </a:defRPr>
            </a:pPr>
            <a:r>
              <a:t>02 · Build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34747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72520"/>
                </a:solidFill>
                <a:latin typeface="Caveat"/>
              </a:defRPr>
            </a:pPr>
            <a:r>
              <a:t>Build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3977639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8635A"/>
                </a:solidFill>
                <a:latin typeface="DM Sans"/>
              </a:defRPr>
            </a:pPr>
            <a:r>
              <a:t>Laptops open, code on screen. Every session ships something real — a training loop, an agent harness, a working demo.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92440" y="2880360"/>
            <a:ext cx="3593592" cy="2194560"/>
          </a:xfrm>
          <a:prstGeom prst="roundRect">
            <a:avLst>
              <a:gd name="adj" fmla="val 8000"/>
            </a:avLst>
          </a:prstGeom>
          <a:solidFill>
            <a:srgbClr val="F9F7F1"/>
          </a:solidFill>
          <a:ln w="12700">
            <a:solidFill>
              <a:srgbClr val="F9F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430260" y="312674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366760" y="3063240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F2D6CA"/>
          </a:solidFill>
          <a:ln w="15875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66760" y="3063240"/>
            <a:ext cx="17373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272520"/>
                </a:solidFill>
                <a:latin typeface="DM Sans"/>
              </a:defRPr>
            </a:pPr>
            <a:r>
              <a:t>03 · Transform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34747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72520"/>
                </a:solidFill>
                <a:latin typeface="Caveat"/>
              </a:defRPr>
            </a:pPr>
            <a:r>
              <a:t>Transform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3977639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8635A"/>
                </a:solidFill>
                <a:latin typeface="DM Sans"/>
              </a:defRPr>
            </a:pPr>
            <a:r>
              <a:t>Skills become careers, side projects become products, and strangers become collaborators. That is the AIYatra journey.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349240"/>
            <a:ext cx="11183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E4AD"/>
                </a:solidFill>
                <a:latin typeface="DM Sans"/>
              </a:defRPr>
            </a:pPr>
            <a:r>
              <a:t>14 Meetups hosted   •   2hr Per session   •   100% Free, always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00800"/>
            <a:ext cx="12188952" cy="63500"/>
          </a:xfrm>
          <a:prstGeom prst="rect">
            <a:avLst/>
          </a:prstGeom>
          <a:solidFill>
            <a:srgbClr val="F5E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6464300"/>
            <a:ext cx="12188952" cy="393700"/>
          </a:xfrm>
          <a:prstGeom prst="rect">
            <a:avLst/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4320" y="650240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F9F7F1"/>
                </a:solidFill>
                <a:latin typeface="DM Sans"/>
              </a:defRPr>
            </a:pPr>
            <a:r>
              <a:t>aiyatra.io   •   linkedin.com/company/aiyatra   •   global.aiyatra@gmail.com   •   meetup.com/aiyatra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0" y="65024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F9F7F1"/>
                </a:solidFill>
                <a:latin typeface="DM Sans"/>
              </a:defRPr>
            </a:pPr>
            <a:r>
              <a:t>© 2026 AIYatra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F9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25400"/>
          </a:xfrm>
          <a:prstGeom prst="rect">
            <a:avLst/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iyatra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73152"/>
            <a:ext cx="512064" cy="4663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88136" y="9144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72520"/>
                </a:solidFill>
                <a:latin typeface="DM Sans"/>
              </a:defRPr>
            </a:pPr>
            <a:r>
              <a:t>AI Yatra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" y="310896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1">
                <a:solidFill>
                  <a:srgbClr val="68635A"/>
                </a:solidFill>
                <a:latin typeface="DM Sans"/>
              </a:defRPr>
            </a:pPr>
            <a:r>
              <a:t>RESEARCH · BUILD · TRANSFORM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28016"/>
            <a:ext cx="58521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00" b="0">
                <a:solidFill>
                  <a:srgbClr val="68635A"/>
                </a:solidFill>
                <a:latin typeface="DM Sans"/>
              </a:defRPr>
            </a:pPr>
            <a:r>
              <a:t>Events     Community     Approach     Testimonials     About     Ambassadors     Blog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56140" y="173228"/>
            <a:ext cx="1993392" cy="438912"/>
          </a:xfrm>
          <a:prstGeom prst="roundRect">
            <a:avLst>
              <a:gd name="adj" fmla="val 1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692640" y="109728"/>
            <a:ext cx="1993392" cy="438912"/>
          </a:xfrm>
          <a:prstGeom prst="roundRect">
            <a:avLst>
              <a:gd name="adj" fmla="val 18000"/>
            </a:avLst>
          </a:prstGeom>
          <a:solidFill>
            <a:srgbClr val="477A9E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0" y="109728"/>
            <a:ext cx="199339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1">
                <a:solidFill>
                  <a:srgbClr val="F9F7F1"/>
                </a:solidFill>
                <a:latin typeface="DM Sans"/>
              </a:defRPr>
            </a:pPr>
            <a:r>
              <a:t>Join on Meetup 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914400"/>
            <a:ext cx="11183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477A9E"/>
                </a:solidFill>
                <a:latin typeface="DM Sans"/>
              </a:defRPr>
            </a:pPr>
            <a:r>
              <a:t>TESTIMONIALS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170432"/>
            <a:ext cx="111831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72520"/>
                </a:solidFill>
                <a:latin typeface="Caveat"/>
              </a:defRPr>
            </a:pPr>
            <a:r>
              <a:t>Rated 4.6★ by the people who show up.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400" y="10515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72520"/>
                </a:solidFill>
                <a:latin typeface="DM Sans"/>
              </a:defRPr>
            </a:pPr>
            <a:r>
              <a:t>★  4.6 · 90 ratings on Meetup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420" y="2166620"/>
            <a:ext cx="2651760" cy="3108960"/>
          </a:xfrm>
          <a:prstGeom prst="roundRect">
            <a:avLst>
              <a:gd name="adj" fmla="val 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2920" y="2103120"/>
            <a:ext cx="2651760" cy="3108960"/>
          </a:xfrm>
          <a:prstGeom prst="roundRect">
            <a:avLst>
              <a:gd name="adj" fmla="val 8000"/>
            </a:avLst>
          </a:prstGeom>
          <a:solidFill>
            <a:srgbClr val="CEE1EE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33172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272520"/>
                </a:solidFill>
                <a:latin typeface="DM Sans"/>
              </a:defRPr>
            </a:pPr>
            <a:r>
              <a:t>“I walked in knowing nothing about transformers and walked out having built attention from scratch. No gatekeeping, no jargon walls — just patient, brilliant teaching.”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43484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272520"/>
                </a:solidFill>
                <a:latin typeface="DM Sans"/>
              </a:defRPr>
            </a:pPr>
            <a:r>
              <a:t>Priya 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66344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8635A"/>
                </a:solidFill>
                <a:latin typeface="DM Sans"/>
              </a:defRPr>
            </a:pPr>
            <a:r>
              <a:t>DATA ANALYST → ML ENGINEER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01060" y="2166620"/>
            <a:ext cx="2651760" cy="3108960"/>
          </a:xfrm>
          <a:prstGeom prst="roundRect">
            <a:avLst>
              <a:gd name="adj" fmla="val 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337560" y="2103120"/>
            <a:ext cx="2651760" cy="3108960"/>
          </a:xfrm>
          <a:prstGeom prst="roundRect">
            <a:avLst>
              <a:gd name="adj" fmla="val 8000"/>
            </a:avLst>
          </a:prstGeom>
          <a:solidFill>
            <a:srgbClr val="D4E7D0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6160" y="233172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272520"/>
                </a:solidFill>
                <a:latin typeface="DM Sans"/>
              </a:defRPr>
            </a:pPr>
            <a:r>
              <a:t>“The agentic AI workshop was the best Saturday I have spent in years. We built a coding agent on our own machines, no API keys, and it actually worked.”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443484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272520"/>
                </a:solidFill>
                <a:latin typeface="DM Sans"/>
              </a:defRPr>
            </a:pPr>
            <a:r>
              <a:t>Rahul 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466344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8635A"/>
                </a:solidFill>
                <a:latin typeface="DM Sans"/>
              </a:defRPr>
            </a:pPr>
            <a:r>
              <a:t>BACKEND ENGINEER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5700" y="2166620"/>
            <a:ext cx="2651760" cy="3108960"/>
          </a:xfrm>
          <a:prstGeom prst="roundRect">
            <a:avLst>
              <a:gd name="adj" fmla="val 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72200" y="2103120"/>
            <a:ext cx="2651760" cy="3108960"/>
          </a:xfrm>
          <a:prstGeom prst="roundRect">
            <a:avLst>
              <a:gd name="adj" fmla="val 8000"/>
            </a:avLst>
          </a:prstGeom>
          <a:solidFill>
            <a:srgbClr val="F5E4AD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233172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272520"/>
                </a:solidFill>
                <a:latin typeface="DM Sans"/>
              </a:defRPr>
            </a:pPr>
            <a:r>
              <a:t>“As a student, most AI events felt out of reach. AIYatra is free, welcoming, and genuinely deep — the linear algebra session finally made the math click for me.”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43484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272520"/>
                </a:solidFill>
                <a:latin typeface="DM Sans"/>
              </a:defRPr>
            </a:pPr>
            <a:r>
              <a:t>Sai Rishita M.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66344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8635A"/>
                </a:solidFill>
                <a:latin typeface="DM Sans"/>
              </a:defRPr>
            </a:pPr>
            <a:r>
              <a:t>CS UNDERGRADUATE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70340" y="2166620"/>
            <a:ext cx="2651760" cy="3108960"/>
          </a:xfrm>
          <a:prstGeom prst="roundRect">
            <a:avLst>
              <a:gd name="adj" fmla="val 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006840" y="2103120"/>
            <a:ext cx="2651760" cy="3108960"/>
          </a:xfrm>
          <a:prstGeom prst="roundRect">
            <a:avLst>
              <a:gd name="adj" fmla="val 8000"/>
            </a:avLst>
          </a:prstGeom>
          <a:solidFill>
            <a:srgbClr val="F2D6CA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0" y="2331720"/>
            <a:ext cx="21945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272520"/>
                </a:solidFill>
                <a:latin typeface="DM Sans"/>
              </a:defRPr>
            </a:pPr>
            <a:r>
              <a:t>“You come for the sessions and stay for the people. I found my co-founder, my study group, and my confidence here. This community changes trajectories.”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443484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272520"/>
                </a:solidFill>
                <a:latin typeface="DM Sans"/>
              </a:defRPr>
            </a:pPr>
            <a:r>
              <a:t>Kiran K.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466344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8635A"/>
                </a:solidFill>
                <a:latin typeface="DM Sans"/>
              </a:defRPr>
            </a:pPr>
            <a:r>
              <a:t>FOUNDER, AI STARTUP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400800"/>
            <a:ext cx="12188952" cy="63500"/>
          </a:xfrm>
          <a:prstGeom prst="rect">
            <a:avLst/>
          </a:prstGeom>
          <a:solidFill>
            <a:srgbClr val="F5E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464300"/>
            <a:ext cx="12188952" cy="393700"/>
          </a:xfrm>
          <a:prstGeom prst="rect">
            <a:avLst/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4320" y="650240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F9F7F1"/>
                </a:solidFill>
                <a:latin typeface="DM Sans"/>
              </a:defRPr>
            </a:pPr>
            <a:r>
              <a:t>aiyatra.io   •   linkedin.com/company/aiyatra   •   global.aiyatra@gmail.com   •   meetup.com/aiyatra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0" y="65024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F9F7F1"/>
                </a:solidFill>
                <a:latin typeface="DM Sans"/>
              </a:defRPr>
            </a:pPr>
            <a:r>
              <a:t>© 2026 AIYatra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CE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F9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25400"/>
          </a:xfrm>
          <a:prstGeom prst="rect">
            <a:avLst/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iyatra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73152"/>
            <a:ext cx="512064" cy="4663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88136" y="9144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72520"/>
                </a:solidFill>
                <a:latin typeface="DM Sans"/>
              </a:defRPr>
            </a:pPr>
            <a:r>
              <a:t>AI Yatra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" y="310896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1">
                <a:solidFill>
                  <a:srgbClr val="68635A"/>
                </a:solidFill>
                <a:latin typeface="DM Sans"/>
              </a:defRPr>
            </a:pPr>
            <a:r>
              <a:t>RESEARCH · BUILD · TRANSFORM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28016"/>
            <a:ext cx="58521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00" b="0">
                <a:solidFill>
                  <a:srgbClr val="68635A"/>
                </a:solidFill>
                <a:latin typeface="DM Sans"/>
              </a:defRPr>
            </a:pPr>
            <a:r>
              <a:t>Events     Community     Approach     Testimonials     About     Ambassadors     Blog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56140" y="173228"/>
            <a:ext cx="1993392" cy="438912"/>
          </a:xfrm>
          <a:prstGeom prst="roundRect">
            <a:avLst>
              <a:gd name="adj" fmla="val 1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692640" y="109728"/>
            <a:ext cx="1993392" cy="438912"/>
          </a:xfrm>
          <a:prstGeom prst="roundRect">
            <a:avLst>
              <a:gd name="adj" fmla="val 18000"/>
            </a:avLst>
          </a:prstGeom>
          <a:solidFill>
            <a:srgbClr val="477A9E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0" y="109728"/>
            <a:ext cx="199339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1">
                <a:solidFill>
                  <a:srgbClr val="F9F7F1"/>
                </a:solidFill>
                <a:latin typeface="DM Sans"/>
              </a:defRPr>
            </a:pPr>
            <a:r>
              <a:t>Join on Meetup 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420" y="1343660"/>
            <a:ext cx="11183112" cy="3291840"/>
          </a:xfrm>
          <a:prstGeom prst="roundRect">
            <a:avLst>
              <a:gd name="adj" fmla="val 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2920" y="1280160"/>
            <a:ext cx="11183112" cy="3291840"/>
          </a:xfrm>
          <a:prstGeom prst="roundRect">
            <a:avLst>
              <a:gd name="adj" fmla="val 8000"/>
            </a:avLst>
          </a:prstGeom>
          <a:solidFill>
            <a:srgbClr val="F9F7F1"/>
          </a:solidFill>
          <a:ln w="22225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mbassador-cres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645920"/>
            <a:ext cx="2011680" cy="2011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246120" y="155448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68635A"/>
                </a:solidFill>
                <a:latin typeface="DM Sans"/>
              </a:defRPr>
            </a:pPr>
            <a:r>
              <a:t>NEW CHAPTER · STUDENT AMBASSADOR PROGRAM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182880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72520"/>
                </a:solidFill>
                <a:latin typeface="Caveat"/>
              </a:defRPr>
            </a:pPr>
            <a:r>
              <a:t>Carry the yatra to your campus.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46120" y="265176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8635A"/>
                </a:solidFill>
                <a:latin typeface="DM Sans"/>
              </a:defRPr>
            </a:pPr>
            <a:r>
              <a:t>Rally your batch to Saturday meetups, host campus mini-sessions, and earn recognition, mentorship and speaker slots — free, always.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09620" y="3583940"/>
            <a:ext cx="2468880" cy="475488"/>
          </a:xfrm>
          <a:prstGeom prst="roundRect">
            <a:avLst>
              <a:gd name="adj" fmla="val 1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246120" y="3520440"/>
            <a:ext cx="2468880" cy="475488"/>
          </a:xfrm>
          <a:prstGeom prst="roundRect">
            <a:avLst>
              <a:gd name="adj" fmla="val 18000"/>
            </a:avLst>
          </a:prstGeom>
          <a:solidFill>
            <a:srgbClr val="477A9E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3520440"/>
            <a:ext cx="246888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1">
                <a:solidFill>
                  <a:srgbClr val="F9F7F1"/>
                </a:solidFill>
                <a:latin typeface="DM Sans"/>
              </a:defRPr>
            </a:pPr>
            <a:r>
              <a:t>Explore the program  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892040"/>
            <a:ext cx="111831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272520"/>
                </a:solidFill>
                <a:latin typeface="DM Sans"/>
              </a:defRPr>
            </a:pPr>
            <a:r>
              <a:t>The people behind AIYatra — Khaja Moinuddin Mohammed (Super Organizer) · Azeez Syed (Co-organizer &amp; Host) · Jagadeeswara Reddy (Host &amp; Educator)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00800"/>
            <a:ext cx="12188952" cy="63500"/>
          </a:xfrm>
          <a:prstGeom prst="rect">
            <a:avLst/>
          </a:prstGeom>
          <a:solidFill>
            <a:srgbClr val="F5E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464300"/>
            <a:ext cx="12188952" cy="393700"/>
          </a:xfrm>
          <a:prstGeom prst="rect">
            <a:avLst/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650240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F9F7F1"/>
                </a:solidFill>
                <a:latin typeface="DM Sans"/>
              </a:defRPr>
            </a:pPr>
            <a:r>
              <a:t>aiyatra.io   •   linkedin.com/company/aiyatra   •   global.aiyatra@gmail.com   •   meetup.com/aiyatra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65024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F9F7F1"/>
                </a:solidFill>
                <a:latin typeface="DM Sans"/>
              </a:defRPr>
            </a:pPr>
            <a:r>
              <a:t>© 2026 AIYatra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ED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F9F7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25400"/>
          </a:xfrm>
          <a:prstGeom prst="rect">
            <a:avLst/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iyatra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73152"/>
            <a:ext cx="512064" cy="4663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88136" y="9144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72520"/>
                </a:solidFill>
                <a:latin typeface="DM Sans"/>
              </a:defRPr>
            </a:pPr>
            <a:r>
              <a:t>AI Yatra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" y="310896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1">
                <a:solidFill>
                  <a:srgbClr val="68635A"/>
                </a:solidFill>
                <a:latin typeface="DM Sans"/>
              </a:defRPr>
            </a:pPr>
            <a:r>
              <a:t>RESEARCH · BUILD · TRANSFORM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28016"/>
            <a:ext cx="58521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00" b="0">
                <a:solidFill>
                  <a:srgbClr val="68635A"/>
                </a:solidFill>
                <a:latin typeface="DM Sans"/>
              </a:defRPr>
            </a:pPr>
            <a:r>
              <a:t>Events     Community     Approach     Testimonials     About     Ambassadors     Blog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56140" y="173228"/>
            <a:ext cx="1993392" cy="438912"/>
          </a:xfrm>
          <a:prstGeom prst="roundRect">
            <a:avLst>
              <a:gd name="adj" fmla="val 1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692640" y="109728"/>
            <a:ext cx="1993392" cy="438912"/>
          </a:xfrm>
          <a:prstGeom prst="roundRect">
            <a:avLst>
              <a:gd name="adj" fmla="val 18000"/>
            </a:avLst>
          </a:prstGeom>
          <a:solidFill>
            <a:srgbClr val="477A9E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0" y="109728"/>
            <a:ext cx="199339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1">
                <a:solidFill>
                  <a:srgbClr val="F9F7F1"/>
                </a:solidFill>
                <a:latin typeface="DM Sans"/>
              </a:defRPr>
            </a:pPr>
            <a:r>
              <a:t>Join on Meetup 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914400"/>
            <a:ext cx="11183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477A9E"/>
                </a:solidFill>
                <a:latin typeface="DM Sans"/>
              </a:defRPr>
            </a:pPr>
            <a:r>
              <a:t>ABOUT AIYATRA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170432"/>
            <a:ext cx="5852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272520"/>
                </a:solidFill>
                <a:latin typeface="Caveat"/>
              </a:defRPr>
            </a:pPr>
            <a:r>
              <a:t>An open door into AI, in the heart of Hyderabad.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103120"/>
            <a:ext cx="5852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68635A"/>
                </a:solidFill>
                <a:latin typeface="DM Sans"/>
              </a:defRPr>
            </a:pPr>
            <a:r>
              <a:t>AIYatra is for anyone exploring AI applications, diving into Artificial Intelligence: A Modern Approach, building recommender systems, or mastering machine learning with Python. Beginner or expert — you get knowledge sharing, networking, and collaborative projects.</a:t>
            </a:r>
            <a:br/>
            <a:r>
              <a:t>Led by super organizer Khaja Moinuddin Mohammed and a crew of passionate volunteers, we meet at LSEG, International Tech Park, Madhapur, Hyderabad.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67220" y="1252220"/>
            <a:ext cx="4782312" cy="3931920"/>
          </a:xfrm>
          <a:prstGeom prst="roundRect">
            <a:avLst>
              <a:gd name="adj" fmla="val 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903720" y="1188720"/>
            <a:ext cx="4782312" cy="3931920"/>
          </a:xfrm>
          <a:prstGeom prst="roundRect">
            <a:avLst>
              <a:gd name="adj" fmla="val 8000"/>
            </a:avLst>
          </a:prstGeom>
          <a:solidFill>
            <a:srgbClr val="F9F7F1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69480" y="141732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72520"/>
                </a:solidFill>
                <a:latin typeface="Caveat"/>
              </a:defRPr>
            </a:pPr>
            <a:r>
              <a:t>The essentials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69480" y="1965960"/>
            <a:ext cx="4050791" cy="621792"/>
          </a:xfrm>
          <a:prstGeom prst="roundRect">
            <a:avLst>
              <a:gd name="adj" fmla="val 12000"/>
            </a:avLst>
          </a:prstGeom>
          <a:solidFill>
            <a:srgbClr val="F5F1E5"/>
          </a:solidFill>
          <a:ln w="1270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52360" y="1993392"/>
            <a:ext cx="37490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8635A"/>
                </a:solidFill>
                <a:latin typeface="DM Sans"/>
              </a:defRPr>
            </a:pPr>
            <a:r>
              <a:t>WHERE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360" y="2176272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272520"/>
                </a:solidFill>
                <a:latin typeface="DM Sans"/>
              </a:defRPr>
            </a:pPr>
            <a:r>
              <a:t>LSEG, International Tech Park, Madhapur, Hyderabad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69480" y="2715768"/>
            <a:ext cx="4050791" cy="621792"/>
          </a:xfrm>
          <a:prstGeom prst="roundRect">
            <a:avLst>
              <a:gd name="adj" fmla="val 12000"/>
            </a:avLst>
          </a:prstGeom>
          <a:solidFill>
            <a:srgbClr val="F5F1E5"/>
          </a:solidFill>
          <a:ln w="1270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52360" y="2743200"/>
            <a:ext cx="37490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8635A"/>
                </a:solidFill>
                <a:latin typeface="DM Sans"/>
              </a:defRPr>
            </a:pPr>
            <a:r>
              <a:t>WHEN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60" y="2926079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272520"/>
                </a:solidFill>
                <a:latin typeface="DM Sans"/>
              </a:defRPr>
            </a:pPr>
            <a:r>
              <a:t>Saturdays · mornings, IST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69480" y="3465576"/>
            <a:ext cx="4050791" cy="621792"/>
          </a:xfrm>
          <a:prstGeom prst="roundRect">
            <a:avLst>
              <a:gd name="adj" fmla="val 12000"/>
            </a:avLst>
          </a:prstGeom>
          <a:solidFill>
            <a:srgbClr val="F5F1E5"/>
          </a:solidFill>
          <a:ln w="1270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52360" y="3493008"/>
            <a:ext cx="37490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8635A"/>
                </a:solidFill>
                <a:latin typeface="DM Sans"/>
              </a:defRPr>
            </a:pPr>
            <a:r>
              <a:t>COST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52360" y="3675887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272520"/>
                </a:solidFill>
                <a:latin typeface="DM Sans"/>
              </a:defRPr>
            </a:pPr>
            <a:r>
              <a:t>Free, always — learning should be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69480" y="4215383"/>
            <a:ext cx="4050791" cy="621792"/>
          </a:xfrm>
          <a:prstGeom prst="roundRect">
            <a:avLst>
              <a:gd name="adj" fmla="val 12000"/>
            </a:avLst>
          </a:prstGeom>
          <a:solidFill>
            <a:srgbClr val="F5F1E5"/>
          </a:solidFill>
          <a:ln w="1270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52360" y="4242816"/>
            <a:ext cx="374903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8635A"/>
                </a:solidFill>
                <a:latin typeface="DM Sans"/>
              </a:defRPr>
            </a:pPr>
            <a:r>
              <a:t>BRING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52360" y="4425696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272520"/>
                </a:solidFill>
                <a:latin typeface="DM Sans"/>
              </a:defRPr>
            </a:pPr>
            <a:r>
              <a:t>A laptop, Python 3.10+, and curiosity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400800"/>
            <a:ext cx="12188952" cy="63500"/>
          </a:xfrm>
          <a:prstGeom prst="rect">
            <a:avLst/>
          </a:prstGeom>
          <a:solidFill>
            <a:srgbClr val="F5E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464300"/>
            <a:ext cx="12188952" cy="393700"/>
          </a:xfrm>
          <a:prstGeom prst="rect">
            <a:avLst/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" y="650240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F9F7F1"/>
                </a:solidFill>
                <a:latin typeface="DM Sans"/>
              </a:defRPr>
            </a:pPr>
            <a:r>
              <a:t>aiyatra.io   •   linkedin.com/company/aiyatra   •   global.aiyatra@gmail.com   •   meetup.com/aiyatra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65024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F9F7F1"/>
                </a:solidFill>
                <a:latin typeface="DM Sans"/>
              </a:defRPr>
            </a:pPr>
            <a:r>
              <a:t>© 2026 AIYatra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25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88952" cy="25400"/>
          </a:xfrm>
          <a:prstGeom prst="rect">
            <a:avLst/>
          </a:prstGeom>
          <a:solidFill>
            <a:srgbClr val="F5E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iyatra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73152"/>
            <a:ext cx="512064" cy="4663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88136" y="9144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9F7F1"/>
                </a:solidFill>
                <a:latin typeface="DM Sans"/>
              </a:defRPr>
            </a:pPr>
            <a:r>
              <a:t>AI Yatra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" y="310896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1">
                <a:solidFill>
                  <a:srgbClr val="F5E4AD"/>
                </a:solidFill>
                <a:latin typeface="DM Sans"/>
              </a:defRPr>
            </a:pPr>
            <a:r>
              <a:t>RESEARCH · BUILD · TRANSFORM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28016"/>
            <a:ext cx="58521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00" b="0">
                <a:solidFill>
                  <a:srgbClr val="F5E4AD"/>
                </a:solidFill>
                <a:latin typeface="DM Sans"/>
              </a:defRPr>
            </a:pPr>
            <a:r>
              <a:t>Events     Community     Approach     Testimonials     About     Ambassadors     Blog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756140" y="173228"/>
            <a:ext cx="1993392" cy="438912"/>
          </a:xfrm>
          <a:prstGeom prst="roundRect">
            <a:avLst>
              <a:gd name="adj" fmla="val 1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692640" y="109728"/>
            <a:ext cx="1993392" cy="438912"/>
          </a:xfrm>
          <a:prstGeom prst="roundRect">
            <a:avLst>
              <a:gd name="adj" fmla="val 18000"/>
            </a:avLst>
          </a:prstGeom>
          <a:solidFill>
            <a:srgbClr val="477A9E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0" y="109728"/>
            <a:ext cx="199339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1">
                <a:solidFill>
                  <a:srgbClr val="F9F7F1"/>
                </a:solidFill>
                <a:latin typeface="DM Sans"/>
              </a:defRPr>
            </a:pPr>
            <a:r>
              <a:t>Join on Meetup 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72660" y="1252220"/>
            <a:ext cx="2743200" cy="347472"/>
          </a:xfrm>
          <a:prstGeom prst="roundRect">
            <a:avLst>
              <a:gd name="adj" fmla="val 50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09160" y="1188720"/>
            <a:ext cx="2743200" cy="347472"/>
          </a:xfrm>
          <a:prstGeom prst="roundRect">
            <a:avLst>
              <a:gd name="adj" fmla="val 50000"/>
            </a:avLst>
          </a:prstGeom>
          <a:solidFill>
            <a:srgbClr val="F5E4AD"/>
          </a:solidFill>
          <a:ln w="15875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60" y="1188720"/>
            <a:ext cx="27432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>
                <a:solidFill>
                  <a:srgbClr val="272520"/>
                </a:solidFill>
                <a:latin typeface="DM Sans"/>
              </a:defRPr>
            </a:pPr>
            <a:r>
              <a:t>🎟  Free forever · No prerequisites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1691640"/>
            <a:ext cx="1118311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9F7F1"/>
                </a:solidFill>
                <a:latin typeface="Caveat"/>
              </a:defRPr>
            </a:pPr>
            <a:r>
              <a:t>Your AI journey starts with a single RSVP.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2743200"/>
            <a:ext cx="7040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9F7F1"/>
                </a:solidFill>
                <a:latin typeface="DM Sans"/>
              </a:defRPr>
            </a:pPr>
            <a:r>
              <a:t>Join 2,957 learners democratizing AI — one meetup, one project, one breakthrough at a time.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55340" y="3538220"/>
            <a:ext cx="2651760" cy="502920"/>
          </a:xfrm>
          <a:prstGeom prst="roundRect">
            <a:avLst>
              <a:gd name="adj" fmla="val 1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291840" y="3474720"/>
            <a:ext cx="2651760" cy="502920"/>
          </a:xfrm>
          <a:prstGeom prst="roundRect">
            <a:avLst>
              <a:gd name="adj" fmla="val 18000"/>
            </a:avLst>
          </a:prstGeom>
          <a:solidFill>
            <a:srgbClr val="F5E4AD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0" y="3474720"/>
            <a:ext cx="2651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1">
                <a:solidFill>
                  <a:srgbClr val="272520"/>
                </a:solidFill>
                <a:latin typeface="DM Sans"/>
              </a:defRPr>
            </a:pPr>
            <a:r>
              <a:t>Join AIYatra on Meetup  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474720"/>
            <a:ext cx="2651760" cy="502920"/>
          </a:xfrm>
          <a:prstGeom prst="roundRect">
            <a:avLst>
              <a:gd name="adj" fmla="val 18000"/>
            </a:avLst>
          </a:prstGeom>
          <a:solidFill>
            <a:srgbClr val="272520"/>
          </a:solidFill>
          <a:ln w="19050">
            <a:solidFill>
              <a:srgbClr val="F9F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0" y="3474720"/>
            <a:ext cx="265176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1">
                <a:solidFill>
                  <a:srgbClr val="F9F7F1"/>
                </a:solidFill>
                <a:latin typeface="DM Sans"/>
              </a:defRPr>
            </a:pPr>
            <a:r>
              <a:t>RSVP: Agentic AI, Sep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00800"/>
            <a:ext cx="12188952" cy="63500"/>
          </a:xfrm>
          <a:prstGeom prst="rect">
            <a:avLst/>
          </a:prstGeom>
          <a:solidFill>
            <a:srgbClr val="F5E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464300"/>
            <a:ext cx="12188952" cy="393700"/>
          </a:xfrm>
          <a:prstGeom prst="rect">
            <a:avLst/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650240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F9F7F1"/>
                </a:solidFill>
                <a:latin typeface="DM Sans"/>
              </a:defRPr>
            </a:pPr>
            <a:r>
              <a:t>aiyatra.io   •   linkedin.com/company/aiyatra   •   global.aiyatra@gmail.com   •   meetup.com/aiyatra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65024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F9F7F1"/>
                </a:solidFill>
                <a:latin typeface="DM Sans"/>
              </a:defRPr>
            </a:pPr>
            <a:r>
              <a:t>© 2026 AIYatra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725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F5E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58368"/>
          </a:xfrm>
          <a:prstGeom prst="rect">
            <a:avLst/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8368"/>
            <a:ext cx="12188952" cy="25400"/>
          </a:xfrm>
          <a:prstGeom prst="rect">
            <a:avLst/>
          </a:prstGeom>
          <a:solidFill>
            <a:srgbClr val="F5E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iyatra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73152"/>
            <a:ext cx="512064" cy="4663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88136" y="9144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9F7F1"/>
                </a:solidFill>
                <a:latin typeface="DM Sans"/>
              </a:defRPr>
            </a:pPr>
            <a:r>
              <a:t>AI Yatra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8136" y="310896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50" b="1">
                <a:solidFill>
                  <a:srgbClr val="F5E4AD"/>
                </a:solidFill>
                <a:latin typeface="DM Sans"/>
              </a:defRPr>
            </a:pPr>
            <a:r>
              <a:t>RESEARCH · BUILD · TRANSFORM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28016"/>
            <a:ext cx="585216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800" b="0">
                <a:solidFill>
                  <a:srgbClr val="F5E4AD"/>
                </a:solidFill>
                <a:latin typeface="DM Sans"/>
              </a:defRPr>
            </a:pPr>
            <a:r>
              <a:t>Events     Community     Approach     Testimonials     About     Ambassadors     Blog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56140" y="173228"/>
            <a:ext cx="1993392" cy="438912"/>
          </a:xfrm>
          <a:prstGeom prst="roundRect">
            <a:avLst>
              <a:gd name="adj" fmla="val 18000"/>
            </a:avLst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692640" y="109728"/>
            <a:ext cx="1993392" cy="438912"/>
          </a:xfrm>
          <a:prstGeom prst="roundRect">
            <a:avLst>
              <a:gd name="adj" fmla="val 18000"/>
            </a:avLst>
          </a:prstGeom>
          <a:solidFill>
            <a:srgbClr val="477A9E"/>
          </a:solidFill>
          <a:ln w="19050">
            <a:solidFill>
              <a:srgbClr val="2725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0" y="109728"/>
            <a:ext cx="199339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1050" b="1">
                <a:solidFill>
                  <a:srgbClr val="F9F7F1"/>
                </a:solidFill>
                <a:latin typeface="DM Sans"/>
              </a:defRPr>
            </a:pPr>
            <a:r>
              <a:t>Join on Meetup 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005840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9F7F1"/>
                </a:solidFill>
                <a:latin typeface="Caveat"/>
              </a:defRPr>
            </a:pPr>
            <a:r>
              <a:t>AI Yatra — Research. Build. Transform.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5544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F9F7F1"/>
                </a:solidFill>
                <a:latin typeface="DM Sans"/>
              </a:defRPr>
            </a:pPr>
            <a:r>
              <a:t>Hyderabad's open AI community. We research, build, and transform — one hands-on Saturday at a time. Free, forever, and open to everyone.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3774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5E4AD"/>
                </a:solidFill>
                <a:latin typeface="DM Sans"/>
              </a:defRPr>
            </a:pPr>
            <a:r>
              <a:t>EXPLORE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697480"/>
            <a:ext cx="2651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F9F7F1"/>
                </a:solidFill>
                <a:latin typeface="DM Sans"/>
              </a:defRPr>
            </a:pPr>
            <a:r>
              <a:t>Ambassadors — new</a:t>
            </a:r>
            <a:br/>
            <a:r>
              <a:t>Blog</a:t>
            </a:r>
            <a:br/>
            <a:r>
              <a:t>Events</a:t>
            </a:r>
            <a:br/>
            <a:r>
              <a:t>Community</a:t>
            </a:r>
            <a:br/>
            <a:r>
              <a:t>Testimonials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23774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5E4AD"/>
                </a:solidFill>
                <a:latin typeface="DM Sans"/>
              </a:defRPr>
            </a:pPr>
            <a:r>
              <a:t>SHOW 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2697480"/>
            <a:ext cx="2651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F9F7F1"/>
                </a:solidFill>
                <a:latin typeface="DM Sans"/>
              </a:defRPr>
            </a:pPr>
            <a:r>
              <a:t>LSEG, International Tech Park, Madhapur</a:t>
            </a:r>
            <a:br/>
            <a:r>
              <a:t>Saturdays · mornings, IST</a:t>
            </a:r>
            <a:br/>
            <a:r>
              <a:t>Free, always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23774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5E4AD"/>
                </a:solidFill>
                <a:latin typeface="DM Sans"/>
              </a:defRPr>
            </a:pPr>
            <a:r>
              <a:t>FOLLOW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2697480"/>
            <a:ext cx="2651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F9F7F1"/>
                </a:solidFill>
                <a:latin typeface="DM Sans"/>
              </a:defRPr>
            </a:pPr>
            <a:r>
              <a:t>global.aiyatra@gmail.com</a:t>
            </a:r>
            <a:br/>
            <a:r>
              <a:t>Meetup inbox</a:t>
            </a:r>
            <a:br/>
            <a:r>
              <a:t>GitHub: github.com/AI-Yatra</a:t>
            </a:r>
            <a:br/>
            <a:r>
              <a:t>LinkedIn: linkedin.com/company/aiyatra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23774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5E4AD"/>
                </a:solidFill>
                <a:latin typeface="DM Sans"/>
              </a:defRPr>
            </a:pPr>
            <a:r>
              <a:t>VISIT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2697480"/>
            <a:ext cx="2651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F9F7F1"/>
                </a:solidFill>
                <a:latin typeface="DM Sans"/>
              </a:defRPr>
            </a:pPr>
            <a:r>
              <a:t>https://aiyatra.io</a:t>
            </a:r>
            <a:br/>
            <a:r>
              <a:t>https://aiyatra.io/ambassadors</a:t>
            </a:r>
            <a:br/>
            <a:r>
              <a:t>https://aiyatra.io/blog</a:t>
            </a:r>
            <a:br/>
            <a:r>
              <a:t>meetup.com/aiyatra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572000"/>
            <a:ext cx="11183112" cy="1051560"/>
          </a:xfrm>
          <a:prstGeom prst="roundRect">
            <a:avLst>
              <a:gd name="adj" fmla="val 10000"/>
            </a:avLst>
          </a:prstGeom>
          <a:solidFill>
            <a:srgbClr val="F9F7F1"/>
          </a:solidFill>
          <a:ln w="12700">
            <a:solidFill>
              <a:srgbClr val="F9F7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70916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50" b="1">
                <a:solidFill>
                  <a:srgbClr val="272520"/>
                </a:solidFill>
                <a:latin typeface="DM Sans"/>
              </a:defRPr>
            </a:pPr>
            <a:r>
              <a:t>Website: https://aiyatra.io   •   LinkedIn: https://www.linkedin.com/company/aiyatra/   •   Email: global.aiyatra@gmail.com   •   Meetup: https://www.meetup.com/aiyatra/   •   Made with ♥ in Hyderabad   •   © 2026 AIYatra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00800"/>
            <a:ext cx="12188952" cy="63500"/>
          </a:xfrm>
          <a:prstGeom prst="rect">
            <a:avLst/>
          </a:prstGeom>
          <a:solidFill>
            <a:srgbClr val="F5E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464300"/>
            <a:ext cx="12188952" cy="393700"/>
          </a:xfrm>
          <a:prstGeom prst="rect">
            <a:avLst/>
          </a:prstGeom>
          <a:solidFill>
            <a:srgbClr val="272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6502400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F9F7F1"/>
                </a:solidFill>
                <a:latin typeface="DM Sans"/>
              </a:defRPr>
            </a:pPr>
            <a:r>
              <a:t>aiyatra.io   •   linkedin.com/company/aiyatra   •   global.aiyatra@gmail.com   •   meetup.com/aiyatra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65024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F9F7F1"/>
                </a:solidFill>
                <a:latin typeface="DM Sans"/>
              </a:defRPr>
            </a:pPr>
            <a:r>
              <a:t>© 2026 AIYatra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