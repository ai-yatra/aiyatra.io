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822960"/>
            <a:ext cx="5212080" cy="5212080"/>
          </a:xfrm>
          <a:prstGeom prst="ellipse">
            <a:avLst/>
          </a:prstGeom>
          <a:ln w="15875">
            <a:solidFill>
              <a:srgbClr val="B9CFF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7040880" y="1371600"/>
            <a:ext cx="4114800" cy="4114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9F8"/>
            </a:solidFill>
            <a:prstDash val="solid"/>
          </a:ln>
          <a:effectLst>
            <a:outerShdw sx="100000" sy="100000" kx="0" ky="0" algn="bl" rotWithShape="0" blurRad="381000" dist="76200" dir="5400000">
              <a:srgbClr val="005AE9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2175272"/>
            <a:ext cx="2743200" cy="2507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2560320"/>
            <a:ext cx="237744" cy="237744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6" name="Shape 3"/>
          <p:cNvSpPr/>
          <p:nvPr/>
        </p:nvSpPr>
        <p:spPr>
          <a:xfrm>
            <a:off x="11247120" y="1828800"/>
            <a:ext cx="182880" cy="18288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0" y="4617720"/>
            <a:ext cx="274320" cy="27432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8" name="Shape 5"/>
          <p:cNvSpPr/>
          <p:nvPr/>
        </p:nvSpPr>
        <p:spPr>
          <a:xfrm>
            <a:off x="7726680" y="5669280"/>
            <a:ext cx="164592" cy="164592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960120"/>
            <a:ext cx="4160520" cy="438912"/>
          </a:xfrm>
          <a:prstGeom prst="roundRect">
            <a:avLst>
              <a:gd name="adj" fmla="val 50000"/>
            </a:avLst>
          </a:prstGeom>
          <a:solidFill>
            <a:srgbClr val="FFF0E4"/>
          </a:solidFill>
          <a:ln w="9525">
            <a:solidFill>
              <a:srgbClr val="FFD3B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9601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D9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AMBASSADOR PROGRAM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1554480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dirty="0">
                <a:solidFill>
                  <a:srgbClr val="005A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8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9718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campus into an AI research &amp; builder chapter.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69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B.Tech &amp; M.Sc students ready to do more than attend AI events — start chapters, run labs, read papers, build tools, and lead.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31520" y="5138928"/>
            <a:ext cx="1444752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3816" y="5212080"/>
            <a:ext cx="365760" cy="36576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303520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43584" y="51389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304288" y="5138928"/>
            <a:ext cx="1444752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386584" y="5212080"/>
            <a:ext cx="365760" cy="36576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24" y="530352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816352" y="51389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877056" y="5138928"/>
            <a:ext cx="1444752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959352" y="5212080"/>
            <a:ext cx="365760" cy="36576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792" y="530352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389120" y="51389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49824" y="5138928"/>
            <a:ext cx="1444752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532120" y="5212080"/>
            <a:ext cx="365760" cy="36576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5303520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961888" y="51389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31520" y="5943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Research. </a:t>
            </a:r>
            <a:pPr indent="0" marL="0">
              <a:buNone/>
            </a:pPr>
            <a:r>
              <a:rPr lang="en-US" sz="2000" b="1" i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</a:t>
            </a:r>
            <a:pPr indent="0" marL="0">
              <a:buNone/>
            </a:pPr>
            <a:r>
              <a:rPr lang="en-US" sz="2000" b="1" i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NOW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moving fast. Your campus needs builders, not just spectators.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87168"/>
            <a:ext cx="2567864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651760"/>
            <a:ext cx="2110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5A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4,427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28416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8444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on the AI Yatra Meetup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390824" y="2487168"/>
            <a:ext cx="2567864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665144" y="2651760"/>
            <a:ext cx="2110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3665144" y="3328416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65144" y="358444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events across modern AI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33008" y="2487168"/>
            <a:ext cx="2567864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507328" y="2651760"/>
            <a:ext cx="2110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5A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 hr</a:t>
            </a:r>
            <a:endParaRPr lang="en-US" sz="3800" dirty="0"/>
          </a:p>
        </p:txBody>
      </p:sp>
      <p:sp>
        <p:nvSpPr>
          <p:cNvPr id="19" name="Text 16"/>
          <p:cNvSpPr txBox="1"/>
          <p:nvPr/>
        </p:nvSpPr>
        <p:spPr>
          <a:xfrm>
            <a:off x="6507328" y="3328416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507328" y="358444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deep dives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75191" y="2487168"/>
            <a:ext cx="2567864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349511" y="2651760"/>
            <a:ext cx="2110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280+</a:t>
            </a:r>
            <a:endParaRPr lang="en-US" sz="3800" dirty="0"/>
          </a:p>
        </p:txBody>
      </p:sp>
      <p:sp>
        <p:nvSpPr>
          <p:cNvPr id="23" name="Text 20"/>
          <p:cNvSpPr txBox="1"/>
          <p:nvPr/>
        </p:nvSpPr>
        <p:spPr>
          <a:xfrm>
            <a:off x="9349511" y="3328416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349511" y="358444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 at recent tech events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— LEVEL UP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663440"/>
            <a:ext cx="351525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2960" y="48463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ATTENDEE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12064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2500" b="1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5641848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Convene peers, host labs, invite speakers, and create momentum.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338218" y="4663440"/>
            <a:ext cx="351525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4612538" y="48463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TUTORIALS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612538" y="512064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2500" b="1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</a:t>
            </a:r>
            <a:endParaRPr lang="en-US" sz="2500" dirty="0"/>
          </a:p>
        </p:txBody>
      </p:sp>
      <p:sp>
        <p:nvSpPr>
          <p:cNvPr id="33" name="Text 30"/>
          <p:cNvSpPr txBox="1"/>
          <p:nvPr/>
        </p:nvSpPr>
        <p:spPr>
          <a:xfrm>
            <a:off x="4612538" y="5641848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math, architectures, code, and papers behind modern AI.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127797" y="4663440"/>
            <a:ext cx="351525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402117" y="48463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PROJECTS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402117" y="512064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2500" b="1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2500" dirty="0"/>
          </a:p>
        </p:txBody>
      </p:sp>
      <p:sp>
        <p:nvSpPr>
          <p:cNvPr id="37" name="Text 34"/>
          <p:cNvSpPr txBox="1"/>
          <p:nvPr/>
        </p:nvSpPr>
        <p:spPr>
          <a:xfrm>
            <a:off x="8402117" y="5641848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notes, notebooks, demos, evals, and open-source PRs.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THIS 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certificate. A mission.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for serious student AI work — real output, repeatable rituals, real leadership.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3703320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776728"/>
            <a:ext cx="603504" cy="60350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" y="293967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670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0449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papers, architectures, implementations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480560" y="2514600"/>
            <a:ext cx="3703320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81728" y="2776728"/>
            <a:ext cx="603504" cy="60350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674" y="293967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40680" y="2670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Build-first culture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440680" y="30449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Demos, notebooks, mini-products, tools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870960"/>
            <a:ext cx="3703320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133088"/>
            <a:ext cx="603504" cy="60350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754" y="4296034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0264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literacy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4401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reproduce, explain, evaluate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480560" y="3870960"/>
            <a:ext cx="3703320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81728" y="4133088"/>
            <a:ext cx="603504" cy="60350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4674" y="4296034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40680" y="40264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collaboration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5440680" y="4401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peer review, public notes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548640" y="5227320"/>
            <a:ext cx="3703320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49808" y="5489448"/>
            <a:ext cx="603504" cy="60350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754" y="5652394"/>
            <a:ext cx="277612" cy="2776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508760" y="538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pipeline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1508760" y="57576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mentor students and grow successors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4480560" y="5227320"/>
            <a:ext cx="3703320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681728" y="5489448"/>
            <a:ext cx="603504" cy="60350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4674" y="5652394"/>
            <a:ext cx="277612" cy="27761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440680" y="538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800" dirty="0"/>
          </a:p>
        </p:txBody>
      </p:sp>
      <p:sp>
        <p:nvSpPr>
          <p:cNvPr id="38" name="Text 29"/>
          <p:cNvSpPr txBox="1"/>
          <p:nvPr/>
        </p:nvSpPr>
        <p:spPr>
          <a:xfrm>
            <a:off x="5440680" y="57576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privacy, governance, and evaluation habits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8458200" y="2514600"/>
            <a:ext cx="3184855" cy="3840480"/>
          </a:xfrm>
          <a:prstGeom prst="roundRect">
            <a:avLst>
              <a:gd name="adj" fmla="val 4594"/>
            </a:avLst>
          </a:prstGeom>
          <a:solidFill>
            <a:srgbClr val="005AE9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8778240" y="2788920"/>
            <a:ext cx="457200" cy="4572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778240" y="3383280"/>
            <a:ext cx="2544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TEST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8778240" y="3703320"/>
            <a:ext cx="25447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your chapter create something useful?”</a:t>
            </a:r>
            <a:endParaRPr lang="en-US" sz="2500" dirty="0"/>
          </a:p>
        </p:txBody>
      </p:sp>
      <p:sp>
        <p:nvSpPr>
          <p:cNvPr id="43" name="Text 33"/>
          <p:cNvSpPr txBox="1"/>
          <p:nvPr/>
        </p:nvSpPr>
        <p:spPr>
          <a:xfrm>
            <a:off x="8778240" y="5120640"/>
            <a:ext cx="2544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note, notebook, lab, open-source PR, model eval, demo, talk, or workshop others can reuse.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OUR TECHNICAL DNA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real AI depth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Ambassadors bring AI Yatra’s deep-dive meetups to campus as chapters, circles, and hands-on labs.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DIVES WE’VE RUN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598932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2976372"/>
            <a:ext cx="137160" cy="13716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87552" y="28346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83464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systems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5989320" cy="420624"/>
          </a:xfrm>
          <a:prstGeom prst="roundRect">
            <a:avLst>
              <a:gd name="adj" fmla="val 21739"/>
            </a:avLst>
          </a:prstGeom>
          <a:solidFill>
            <a:srgbClr val="F7FAFF"/>
          </a:solidFill>
          <a:ln w="9525">
            <a:solidFill>
              <a:srgbClr val="E1E9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3479292"/>
            <a:ext cx="137160" cy="13716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87552" y="3337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from Scratch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33375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840480"/>
            <a:ext cx="598932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" y="3982212"/>
            <a:ext cx="137160" cy="13716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87552" y="38404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for AI Engineers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8404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343400"/>
            <a:ext cx="5989320" cy="420624"/>
          </a:xfrm>
          <a:prstGeom prst="roundRect">
            <a:avLst>
              <a:gd name="adj" fmla="val 21739"/>
            </a:avLst>
          </a:prstGeom>
          <a:solidFill>
            <a:srgbClr val="F7FAFF"/>
          </a:solidFill>
          <a:ln w="9525">
            <a:solidFill>
              <a:srgbClr val="E1E9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" y="4485132"/>
            <a:ext cx="137160" cy="13716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87552" y="43434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Foundations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4343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846320"/>
            <a:ext cx="598932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3232" y="4988052"/>
            <a:ext cx="137160" cy="13716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87552" y="48463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Harnessing Agentic AI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48463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" y="5349240"/>
            <a:ext cx="5989320" cy="420624"/>
          </a:xfrm>
          <a:prstGeom prst="roundRect">
            <a:avLst>
              <a:gd name="adj" fmla="val 21739"/>
            </a:avLst>
          </a:prstGeom>
          <a:solidFill>
            <a:srgbClr val="F7FAFF"/>
          </a:solidFill>
          <a:ln w="9525">
            <a:solidFill>
              <a:srgbClr val="E1E9F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3232" y="5490972"/>
            <a:ext cx="137160" cy="13716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87552" y="53492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→ Reinforcement Learning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4924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852160"/>
            <a:ext cx="598932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3232" y="5993892"/>
            <a:ext cx="137160" cy="13716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87552" y="58521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from First Principles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0" y="58521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AMBASSADORS ADD ON CAMPUS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949440" y="2834640"/>
            <a:ext cx="4693615" cy="804672"/>
          </a:xfrm>
          <a:prstGeom prst="roundRect">
            <a:avLst>
              <a:gd name="adj" fmla="val 15909"/>
            </a:avLst>
          </a:prstGeom>
          <a:solidFill>
            <a:srgbClr val="EAF1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132320" y="2990088"/>
            <a:ext cx="493776" cy="493776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132320" y="2990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7790688" y="2907792"/>
            <a:ext cx="3733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depth</a:t>
            </a:r>
            <a:endParaRPr lang="en-US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7790688" y="3236976"/>
            <a:ext cx="3733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serious deep dives inside your college.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7150608" y="3721608"/>
            <a:ext cx="4492447" cy="804672"/>
          </a:xfrm>
          <a:prstGeom prst="roundRect">
            <a:avLst>
              <a:gd name="adj" fmla="val 15909"/>
            </a:avLst>
          </a:prstGeom>
          <a:solidFill>
            <a:srgbClr val="D6E4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333488" y="3877056"/>
            <a:ext cx="493776" cy="493776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333488" y="3877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7991856" y="3794760"/>
            <a:ext cx="35323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research layer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7991856" y="4123944"/>
            <a:ext cx="35323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circles, reproductions, benchmarks.</a:t>
            </a:r>
            <a:endParaRPr lang="en-US" sz="1350" dirty="0"/>
          </a:p>
        </p:txBody>
      </p:sp>
      <p:sp>
        <p:nvSpPr>
          <p:cNvPr id="49" name="Shape 46"/>
          <p:cNvSpPr/>
          <p:nvPr/>
        </p:nvSpPr>
        <p:spPr>
          <a:xfrm>
            <a:off x="7351776" y="4608576"/>
            <a:ext cx="4291279" cy="804672"/>
          </a:xfrm>
          <a:prstGeom prst="roundRect">
            <a:avLst>
              <a:gd name="adj" fmla="val 15909"/>
            </a:avLst>
          </a:prstGeom>
          <a:solidFill>
            <a:srgbClr val="6FA2F7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534656" y="4764024"/>
            <a:ext cx="493776" cy="493776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7534656" y="4764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8193024" y="4681728"/>
            <a:ext cx="33311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builder layer</a:t>
            </a:r>
            <a:endParaRPr lang="en-US" sz="1700" dirty="0"/>
          </a:p>
        </p:txBody>
      </p:sp>
      <p:sp>
        <p:nvSpPr>
          <p:cNvPr id="53" name="Text 50"/>
          <p:cNvSpPr txBox="1"/>
          <p:nvPr/>
        </p:nvSpPr>
        <p:spPr>
          <a:xfrm>
            <a:off x="8193024" y="5010912"/>
            <a:ext cx="33311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Notebooks, demos, hack labs, GitHub repos.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7552944" y="5495544"/>
            <a:ext cx="4090111" cy="804672"/>
          </a:xfrm>
          <a:prstGeom prst="roundRect">
            <a:avLst>
              <a:gd name="adj" fmla="val 15909"/>
            </a:avLst>
          </a:prstGeom>
          <a:solidFill>
            <a:srgbClr val="005AE9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7735824" y="5650992"/>
            <a:ext cx="493776" cy="493776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7735824" y="5650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8394192" y="5568696"/>
            <a:ext cx="31299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leadership layer</a:t>
            </a:r>
            <a:endParaRPr lang="en-US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8394192" y="5897880"/>
            <a:ext cx="31299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3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team, faculty link, speakers, outcomes.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ROLE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You, the Ambassador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founder · technical curator · peer teacher · community operator. A leadership role — not a badge.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770632"/>
            <a:ext cx="621792" cy="621792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44" y="2938516"/>
            <a:ext cx="286024" cy="286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770632"/>
            <a:ext cx="2280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chapter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5204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core team, work with faculty, set the cadence, plan the first event.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338218" y="25146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12538" y="2770632"/>
            <a:ext cx="621792" cy="621792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422" y="2938516"/>
            <a:ext cx="286024" cy="286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89778" y="2770632"/>
            <a:ext cx="2280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serious tech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4612538" y="35204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topics, papers, repos, datasets, model releases, and hands-on formats.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127797" y="25146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02117" y="2770632"/>
            <a:ext cx="621792" cy="621792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001" y="2938516"/>
            <a:ext cx="286024" cy="286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79357" y="2770632"/>
            <a:ext cx="2280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&amp; facilitate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8402117" y="35204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labs, paper sessions, lightning talks, project sessions, and demos.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548640" y="45720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828032"/>
            <a:ext cx="621792" cy="621792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844" y="4995916"/>
            <a:ext cx="286024" cy="286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4828032"/>
            <a:ext cx="2280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public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5577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notes, code, models, demos, recaps, and technical explainers.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4338218" y="45720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612538" y="4828032"/>
            <a:ext cx="621792" cy="621792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0422" y="4995916"/>
            <a:ext cx="286024" cy="2860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89778" y="4828032"/>
            <a:ext cx="2280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people</a:t>
            </a:r>
            <a:endParaRPr lang="en-US" sz="2000" dirty="0"/>
          </a:p>
        </p:txBody>
      </p:sp>
      <p:sp>
        <p:nvSpPr>
          <p:cNvPr id="33" name="Text 25"/>
          <p:cNvSpPr txBox="1"/>
          <p:nvPr/>
        </p:nvSpPr>
        <p:spPr>
          <a:xfrm>
            <a:off x="4612538" y="5577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faculty, alumni, practitioners, founders, and other chapters.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8127797" y="45720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02117" y="4828032"/>
            <a:ext cx="621792" cy="621792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0001" y="4995916"/>
            <a:ext cx="286024" cy="28602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179357" y="4828032"/>
            <a:ext cx="2280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successors</a:t>
            </a:r>
            <a:endParaRPr lang="en-US" sz="2000" dirty="0"/>
          </a:p>
        </p:txBody>
      </p:sp>
      <p:sp>
        <p:nvSpPr>
          <p:cNvPr id="38" name="Text 29"/>
          <p:cNvSpPr txBox="1"/>
          <p:nvPr/>
        </p:nvSpPr>
        <p:spPr>
          <a:xfrm>
            <a:off x="8402117" y="5577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next chapter leaders before you graduate.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CHAPTER BLUEPRINT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chapter blueprint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operating model that works in any college: start small, stay consistent, publish, scale.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08760" y="2971800"/>
            <a:ext cx="9174175" cy="914"/>
          </a:xfrm>
          <a:prstGeom prst="line">
            <a:avLst/>
          </a:prstGeom>
          <a:noFill/>
          <a:ln w="50800">
            <a:solidFill>
              <a:srgbClr val="D6E4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6696" y="2459736"/>
            <a:ext cx="1024128" cy="10241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88136" y="2551176"/>
            <a:ext cx="841248" cy="841248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88136" y="255117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35753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committed students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90240" y="2459736"/>
            <a:ext cx="1024128" cy="10241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1680" y="2551176"/>
            <a:ext cx="841248" cy="841248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381680" y="255117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2705024" y="35753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link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705024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contact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583784" y="2459736"/>
            <a:ext cx="1024128" cy="10241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75224" y="2551176"/>
            <a:ext cx="841248" cy="841248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75224" y="255117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4998568" y="35753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998568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learning + 1 build / month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877327" y="2459736"/>
            <a:ext cx="1024128" cy="10241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68767" y="2551176"/>
            <a:ext cx="841248" cy="841248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968767" y="255117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7292111" y="35753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292111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+ code + demos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170871" y="2459736"/>
            <a:ext cx="1024128" cy="10241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262311" y="2551176"/>
            <a:ext cx="841248" cy="8412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262311" y="255117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9585655" y="35753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9585655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or cross-college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4407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MONTHLY RHYTHM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" y="4736592"/>
            <a:ext cx="2602154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49808" y="4919472"/>
            <a:ext cx="457200" cy="45720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5042916"/>
            <a:ext cx="210312" cy="210312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325880" y="4919472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749808" y="5468112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circle</a:t>
            </a:r>
            <a:endParaRPr lang="en-US" sz="1700" dirty="0"/>
          </a:p>
        </p:txBody>
      </p:sp>
      <p:sp>
        <p:nvSpPr>
          <p:cNvPr id="41" name="Text 37"/>
          <p:cNvSpPr txBox="1"/>
          <p:nvPr/>
        </p:nvSpPr>
        <p:spPr>
          <a:xfrm>
            <a:off x="749808" y="5797296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one paper or chapter; explain it from first principles.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3379394" y="4736592"/>
            <a:ext cx="2602154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3580562" y="4919472"/>
            <a:ext cx="457200" cy="45720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006" y="5042916"/>
            <a:ext cx="210312" cy="210312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4156634" y="4919472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46" name="Text 41"/>
          <p:cNvSpPr txBox="1"/>
          <p:nvPr/>
        </p:nvSpPr>
        <p:spPr>
          <a:xfrm>
            <a:off x="3580562" y="5468112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700" dirty="0"/>
          </a:p>
        </p:txBody>
      </p:sp>
      <p:sp>
        <p:nvSpPr>
          <p:cNvPr id="47" name="Text 42"/>
          <p:cNvSpPr txBox="1"/>
          <p:nvPr/>
        </p:nvSpPr>
        <p:spPr>
          <a:xfrm>
            <a:off x="3580562" y="5797296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a result, build a notebook, test an open model.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6210148" y="4736592"/>
            <a:ext cx="2602154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6411316" y="4919472"/>
            <a:ext cx="457200" cy="45720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760" y="5042916"/>
            <a:ext cx="210312" cy="210312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6987388" y="4919472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52" name="Text 46"/>
          <p:cNvSpPr txBox="1"/>
          <p:nvPr/>
        </p:nvSpPr>
        <p:spPr>
          <a:xfrm>
            <a:off x="6411316" y="5468112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session</a:t>
            </a:r>
            <a:endParaRPr lang="en-US" sz="1700" dirty="0"/>
          </a:p>
        </p:txBody>
      </p:sp>
      <p:sp>
        <p:nvSpPr>
          <p:cNvPr id="53" name="Text 47"/>
          <p:cNvSpPr txBox="1"/>
          <p:nvPr/>
        </p:nvSpPr>
        <p:spPr>
          <a:xfrm>
            <a:off x="6411316" y="5797296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a practitioner, researcher, alum, or senior student.</a:t>
            </a:r>
            <a:endParaRPr lang="en-US" sz="1300" dirty="0"/>
          </a:p>
        </p:txBody>
      </p:sp>
      <p:sp>
        <p:nvSpPr>
          <p:cNvPr id="54" name="Shape 48"/>
          <p:cNvSpPr/>
          <p:nvPr/>
        </p:nvSpPr>
        <p:spPr>
          <a:xfrm>
            <a:off x="9040901" y="4736592"/>
            <a:ext cx="2602154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9242069" y="4919472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5513" y="5042916"/>
            <a:ext cx="210312" cy="210312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9818141" y="4919472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58" name="Text 51"/>
          <p:cNvSpPr txBox="1"/>
          <p:nvPr/>
        </p:nvSpPr>
        <p:spPr>
          <a:xfrm>
            <a:off x="9242069" y="5468112"/>
            <a:ext cx="2236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&amp; publish</a:t>
            </a:r>
            <a:endParaRPr lang="en-US" sz="1700" dirty="0"/>
          </a:p>
        </p:txBody>
      </p:sp>
      <p:sp>
        <p:nvSpPr>
          <p:cNvPr id="59" name="Text 52"/>
          <p:cNvSpPr txBox="1"/>
          <p:nvPr/>
        </p:nvSpPr>
        <p:spPr>
          <a:xfrm>
            <a:off x="9242069" y="5797296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Blog, recap, repo, demo, write-up, or benchmark.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LEADERSHIP SQUAD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as a squad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ambassador shouldn’t carry a whole chapter. Strong chapters share ownership.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26280" y="3063240"/>
            <a:ext cx="1569568" cy="1371600"/>
          </a:xfrm>
          <a:prstGeom prst="line">
            <a:avLst/>
          </a:prstGeom>
          <a:noFill/>
          <a:ln w="31750">
            <a:solidFill>
              <a:srgbClr val="D6E4F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526280" y="4434840"/>
            <a:ext cx="1569568" cy="914"/>
          </a:xfrm>
          <a:prstGeom prst="line">
            <a:avLst/>
          </a:prstGeom>
          <a:noFill/>
          <a:ln w="31750">
            <a:solidFill>
              <a:srgbClr val="D6E4FF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 flipV="1">
            <a:off x="4526280" y="4434840"/>
            <a:ext cx="1569568" cy="1371600"/>
          </a:xfrm>
          <a:prstGeom prst="line">
            <a:avLst/>
          </a:prstGeom>
          <a:noFill/>
          <a:ln w="31750">
            <a:solidFill>
              <a:srgbClr val="D6E4FF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 flipV="1">
            <a:off x="6095848" y="3063240"/>
            <a:ext cx="1569568" cy="1371600"/>
          </a:xfrm>
          <a:prstGeom prst="line">
            <a:avLst/>
          </a:prstGeom>
          <a:noFill/>
          <a:ln w="31750">
            <a:solidFill>
              <a:srgbClr val="D6E4FF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095848" y="4434840"/>
            <a:ext cx="1569568" cy="914"/>
          </a:xfrm>
          <a:prstGeom prst="line">
            <a:avLst/>
          </a:prstGeom>
          <a:noFill/>
          <a:ln w="31750">
            <a:solidFill>
              <a:srgbClr val="D6E4FF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6095848" y="4434840"/>
            <a:ext cx="1569568" cy="1371600"/>
          </a:xfrm>
          <a:prstGeom prst="line">
            <a:avLst/>
          </a:prstGeom>
          <a:noFill/>
          <a:ln w="31750">
            <a:solidFill>
              <a:srgbClr val="D6E4FF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4861408" y="3200400"/>
            <a:ext cx="2468880" cy="246888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090008" y="3429000"/>
            <a:ext cx="2011680" cy="2011680"/>
          </a:xfrm>
          <a:prstGeom prst="ellipse">
            <a:avLst/>
          </a:prstGeom>
          <a:solidFill>
            <a:srgbClr val="005AE9"/>
          </a:solidFill>
          <a:ln/>
          <a:effectLst>
            <a:outerShdw sx="100000" sy="100000" kx="0" ky="0" algn="bl" rotWithShape="0" blurRad="254000" dist="50800" dir="5400000">
              <a:srgbClr val="005AE9">
                <a:alpha val="3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3721608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090008" y="43251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48640" y="2514600"/>
            <a:ext cx="397764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49808" y="2779776"/>
            <a:ext cx="566928" cy="566928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879" y="2932847"/>
            <a:ext cx="260787" cy="26078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81328" y="26334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Lead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481328" y="29900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core team, college alignment, and monthly output.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548640" y="3886200"/>
            <a:ext cx="397764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49808" y="4151376"/>
            <a:ext cx="566928" cy="566928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879" y="4304447"/>
            <a:ext cx="260787" cy="26078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81328" y="40050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481328" y="43616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papers, hands-on labs, code quality, learning paths.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548640" y="5257800"/>
            <a:ext cx="397764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49808" y="5522976"/>
            <a:ext cx="566928" cy="566928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879" y="5676047"/>
            <a:ext cx="260787" cy="26078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81328" y="53766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Lead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1481328" y="57332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circles, reproductions, literature maps, summaries.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7665415" y="2514600"/>
            <a:ext cx="397764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866583" y="2779776"/>
            <a:ext cx="566928" cy="566928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9654" y="2932847"/>
            <a:ext cx="260787" cy="26078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598103" y="26334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Lead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8598103" y="29900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Registrations, comms, posters, WhatsApp/LinkedIn, feedback.</a:t>
            </a:r>
            <a:endParaRPr lang="en-US" sz="1350" dirty="0"/>
          </a:p>
        </p:txBody>
      </p:sp>
      <p:sp>
        <p:nvSpPr>
          <p:cNvPr id="39" name="Shape 31"/>
          <p:cNvSpPr/>
          <p:nvPr/>
        </p:nvSpPr>
        <p:spPr>
          <a:xfrm>
            <a:off x="7665415" y="3886200"/>
            <a:ext cx="397764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7866583" y="4151376"/>
            <a:ext cx="566928" cy="566928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654" y="4304447"/>
            <a:ext cx="260787" cy="260787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8598103" y="40050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1800" dirty="0"/>
          </a:p>
        </p:txBody>
      </p:sp>
      <p:sp>
        <p:nvSpPr>
          <p:cNvPr id="43" name="Text 34"/>
          <p:cNvSpPr txBox="1"/>
          <p:nvPr/>
        </p:nvSpPr>
        <p:spPr>
          <a:xfrm>
            <a:off x="8598103" y="43616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learning into demos, OSS tasks, and campus use-cases.</a:t>
            </a:r>
            <a:endParaRPr lang="en-US" sz="1350" dirty="0"/>
          </a:p>
        </p:txBody>
      </p:sp>
      <p:sp>
        <p:nvSpPr>
          <p:cNvPr id="44" name="Shape 35"/>
          <p:cNvSpPr/>
          <p:nvPr/>
        </p:nvSpPr>
        <p:spPr>
          <a:xfrm>
            <a:off x="7665415" y="5257800"/>
            <a:ext cx="397764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7866583" y="5522976"/>
            <a:ext cx="566928" cy="566928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654" y="5676047"/>
            <a:ext cx="260787" cy="260787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598103" y="53766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</a:t>
            </a:r>
            <a:endParaRPr lang="en-US" sz="1800" dirty="0"/>
          </a:p>
        </p:txBody>
      </p:sp>
      <p:sp>
        <p:nvSpPr>
          <p:cNvPr id="48" name="Text 38"/>
          <p:cNvSpPr txBox="1"/>
          <p:nvPr/>
        </p:nvSpPr>
        <p:spPr>
          <a:xfrm>
            <a:off x="8598103" y="57332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support, rooms, permissions, academic alignment.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9-MONTH JOURNEY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9-month journey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learner to chapter leader — designed to fit one academic year.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325880" y="3154680"/>
            <a:ext cx="9539935" cy="914"/>
          </a:xfrm>
          <a:prstGeom prst="line">
            <a:avLst/>
          </a:prstGeom>
          <a:noFill/>
          <a:ln w="50800">
            <a:solidFill>
              <a:srgbClr val="D6E4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487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260604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97480"/>
            <a:ext cx="914400" cy="91440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3813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" y="4197096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charter, core team, faculty link.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685227" y="260604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76667" y="2697480"/>
            <a:ext cx="914400" cy="91440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776667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1–2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2319467" y="3813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2337755" y="4197096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PyTorch, model internals, systems thinking.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93214" y="260604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84654" y="2697480"/>
            <a:ext cx="914400" cy="91440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84654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3–4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4227454" y="3813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4245742" y="4197096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on agents, inference, RAG, post-training, diffusion.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501201" y="260604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92641" y="2697480"/>
            <a:ext cx="914400" cy="91440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592641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5–6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6135441" y="3813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6153729" y="4197096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circles, reproduction, benchmark or mini-project.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409188" y="260604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00628" y="2697480"/>
            <a:ext cx="914400" cy="914400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500628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7–8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043428" y="3813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8061716" y="4197096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big sessions, recruit juniors, partner with a chapter.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317175" y="260604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408615" y="2697480"/>
            <a:ext cx="914400" cy="9144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408615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9951415" y="3813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1900" dirty="0"/>
          </a:p>
        </p:txBody>
      </p:sp>
      <p:sp>
        <p:nvSpPr>
          <p:cNvPr id="40" name="Text 37"/>
          <p:cNvSpPr txBox="1"/>
          <p:nvPr/>
        </p:nvSpPr>
        <p:spPr>
          <a:xfrm>
            <a:off x="9969703" y="4197096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outcomes, demos, notes, and contributions.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48640" y="5394960"/>
            <a:ext cx="11094415" cy="96012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42" name="Shape 39"/>
          <p:cNvSpPr/>
          <p:nvPr/>
        </p:nvSpPr>
        <p:spPr>
          <a:xfrm>
            <a:off x="822960" y="5577840"/>
            <a:ext cx="594360" cy="59436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5738317"/>
            <a:ext cx="273406" cy="273406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1645920" y="5394960"/>
            <a:ext cx="9722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 line: </a:t>
            </a:r>
            <a:pPr indent="0" marL="0">
              <a:buNone/>
            </a:pPr>
            <a:r>
              <a:rPr lang="en-US" sz="2000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launch, operate, and hand over a serious AI chapter.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TRACKS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your tracks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across modern AI. Depth through implementation and reading.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260215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743200"/>
            <a:ext cx="603504" cy="60350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86" y="2906146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7240" y="3410712"/>
            <a:ext cx="2190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758184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algebra, probability, optimization, PyTorch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3379394" y="2514600"/>
            <a:ext cx="260215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07994" y="2743200"/>
            <a:ext cx="603504" cy="60350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940" y="2906146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07994" y="3410712"/>
            <a:ext cx="2190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Internals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607994" y="3758184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attention, MoE, KV cache, inference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10148" y="2514600"/>
            <a:ext cx="260215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38748" y="2743200"/>
            <a:ext cx="603504" cy="60350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694" y="2906146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38748" y="3410712"/>
            <a:ext cx="2190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38748" y="3758184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SFT, preference learning, RLHF, RL, evaluation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9040901" y="2514600"/>
            <a:ext cx="260215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269501" y="2743200"/>
            <a:ext cx="603504" cy="60350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2447" y="2906146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269501" y="3410712"/>
            <a:ext cx="2190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Systems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269501" y="3758184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use, context, harnesses, MCP, safety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548640" y="4434840"/>
            <a:ext cx="260215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77240" y="4663440"/>
            <a:ext cx="603504" cy="60350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186" y="4826386"/>
            <a:ext cx="277612" cy="2776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77240" y="5330952"/>
            <a:ext cx="2190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777240" y="5678424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Diffusion, score models, multimodal, video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3379394" y="4434840"/>
            <a:ext cx="260215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607994" y="4663440"/>
            <a:ext cx="603504" cy="60350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0940" y="4826386"/>
            <a:ext cx="277612" cy="27761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607994" y="5330952"/>
            <a:ext cx="2190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Data</a:t>
            </a:r>
            <a:endParaRPr lang="en-US" sz="1800" dirty="0"/>
          </a:p>
        </p:txBody>
      </p:sp>
      <p:sp>
        <p:nvSpPr>
          <p:cNvPr id="38" name="Text 29"/>
          <p:cNvSpPr txBox="1"/>
          <p:nvPr/>
        </p:nvSpPr>
        <p:spPr>
          <a:xfrm>
            <a:off x="3607994" y="5678424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RAG, data pipelines, evals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6210148" y="4434840"/>
            <a:ext cx="260215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438748" y="4663440"/>
            <a:ext cx="603504" cy="60350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1694" y="4826386"/>
            <a:ext cx="277612" cy="27761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438748" y="5330952"/>
            <a:ext cx="2190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for AI</a:t>
            </a:r>
            <a:endParaRPr lang="en-US" sz="1800" dirty="0"/>
          </a:p>
        </p:txBody>
      </p:sp>
      <p:sp>
        <p:nvSpPr>
          <p:cNvPr id="43" name="Text 33"/>
          <p:cNvSpPr txBox="1"/>
          <p:nvPr/>
        </p:nvSpPr>
        <p:spPr>
          <a:xfrm>
            <a:off x="6438748" y="5678424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training, serving, quantization, GPUs</a:t>
            </a:r>
            <a:endParaRPr lang="en-US" sz="1350" dirty="0"/>
          </a:p>
        </p:txBody>
      </p:sp>
      <p:sp>
        <p:nvSpPr>
          <p:cNvPr id="44" name="Shape 34"/>
          <p:cNvSpPr/>
          <p:nvPr/>
        </p:nvSpPr>
        <p:spPr>
          <a:xfrm>
            <a:off x="9040901" y="4434840"/>
            <a:ext cx="2602154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9269501" y="4663440"/>
            <a:ext cx="603504" cy="60350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2447" y="4826386"/>
            <a:ext cx="277612" cy="277612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269501" y="5330952"/>
            <a:ext cx="2190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Practice</a:t>
            </a:r>
            <a:endParaRPr lang="en-US" sz="1800" dirty="0"/>
          </a:p>
        </p:txBody>
      </p:sp>
      <p:sp>
        <p:nvSpPr>
          <p:cNvPr id="48" name="Text 37"/>
          <p:cNvSpPr txBox="1"/>
          <p:nvPr/>
        </p:nvSpPr>
        <p:spPr>
          <a:xfrm>
            <a:off x="9269501" y="5678424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reading, reproduction, ablations, benchmarks</a:t>
            </a:r>
            <a:endParaRPr lang="en-US" sz="1350" dirty="0"/>
          </a:p>
        </p:txBody>
      </p:sp>
      <p:sp>
        <p:nvSpPr>
          <p:cNvPr id="49" name="Text 38"/>
          <p:cNvSpPr txBox="1"/>
          <p:nvPr/>
        </p:nvSpPr>
        <p:spPr>
          <a:xfrm>
            <a:off x="54864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choose tracks based on student maturity, faculty strength, and available compute.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CIRCLES &amp; LABS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Read. Reproduce. Explain.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just consume AI content — you test it, rebuild it, and teach it.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3429000" cy="3840480"/>
          </a:xfrm>
          <a:prstGeom prst="roundRect">
            <a:avLst>
              <a:gd name="adj" fmla="val 4267"/>
            </a:avLst>
          </a:prstGeom>
          <a:solidFill>
            <a:srgbClr val="EAF1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7432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5A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</a:t>
            </a:r>
            <a:endParaRPr lang="en-US" sz="3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2116836" y="34015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382219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REPRODUCE</a:t>
            </a:r>
            <a:endParaRPr lang="en-US" sz="3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2116836" y="44805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" y="49011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5A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</a:t>
            </a:r>
            <a:endParaRPr lang="en-US" sz="3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806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Accessible. Honest. Output-driven.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251960" y="2514600"/>
            <a:ext cx="3581248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453128" y="2697480"/>
            <a:ext cx="475488" cy="475488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453128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074920" y="2697480"/>
            <a:ext cx="2621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reading circle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074920" y="3172968"/>
            <a:ext cx="2621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paper end-to-end: problem, method, equations, limitations.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8061808" y="2514600"/>
            <a:ext cx="3581248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62976" y="2697480"/>
            <a:ext cx="475488" cy="47548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262976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884768" y="2697480"/>
            <a:ext cx="2621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lab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8884768" y="3172968"/>
            <a:ext cx="2621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 small result: training loop, component, eval, or demo.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4251960" y="3870960"/>
            <a:ext cx="3581248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453128" y="4053840"/>
            <a:ext cx="475488" cy="475488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4453128" y="4053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5074920" y="4053840"/>
            <a:ext cx="2621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lab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5074920" y="4529328"/>
            <a:ext cx="2621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on a local benchmark or real campus use-case.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061808" y="3870960"/>
            <a:ext cx="3581248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262976" y="4053840"/>
            <a:ext cx="475488" cy="47548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262976" y="4053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8884768" y="4053840"/>
            <a:ext cx="2621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sprint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8884768" y="4529328"/>
            <a:ext cx="2621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docs, fix issues, add examples, build adapters, run evals.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4251960" y="5227320"/>
            <a:ext cx="3581248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453128" y="5410200"/>
            <a:ext cx="475488" cy="475488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4453128" y="541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4"/>
          <p:cNvSpPr txBox="1"/>
          <p:nvPr/>
        </p:nvSpPr>
        <p:spPr>
          <a:xfrm>
            <a:off x="5074920" y="5410200"/>
            <a:ext cx="2621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AI product lab</a:t>
            </a:r>
            <a:endParaRPr lang="en-US" sz="1700" dirty="0"/>
          </a:p>
        </p:txBody>
      </p:sp>
      <p:sp>
        <p:nvSpPr>
          <p:cNvPr id="40" name="Text 35"/>
          <p:cNvSpPr txBox="1"/>
          <p:nvPr/>
        </p:nvSpPr>
        <p:spPr>
          <a:xfrm>
            <a:off x="5074920" y="5885688"/>
            <a:ext cx="2621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useful tools: search, tutor, notes, lab assistant, helpdesk.</a:t>
            </a:r>
            <a:endParaRPr lang="en-US" sz="1350" dirty="0"/>
          </a:p>
        </p:txBody>
      </p:sp>
      <p:sp>
        <p:nvSpPr>
          <p:cNvPr id="41" name="Shape 36"/>
          <p:cNvSpPr/>
          <p:nvPr/>
        </p:nvSpPr>
        <p:spPr>
          <a:xfrm>
            <a:off x="8061808" y="5227320"/>
            <a:ext cx="3581248" cy="1127760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8262976" y="5410200"/>
            <a:ext cx="475488" cy="47548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8262976" y="541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39"/>
          <p:cNvSpPr txBox="1"/>
          <p:nvPr/>
        </p:nvSpPr>
        <p:spPr>
          <a:xfrm>
            <a:off x="8884768" y="5410200"/>
            <a:ext cx="2621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note publishing</a:t>
            </a:r>
            <a:endParaRPr lang="en-US" sz="1700" dirty="0"/>
          </a:p>
        </p:txBody>
      </p:sp>
      <p:sp>
        <p:nvSpPr>
          <p:cNvPr id="45" name="Text 40"/>
          <p:cNvSpPr txBox="1"/>
          <p:nvPr/>
        </p:nvSpPr>
        <p:spPr>
          <a:xfrm>
            <a:off x="8884768" y="5885688"/>
            <a:ext cx="2621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concise technical notes that juniors can reuse.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SIGNATURE ACTIVITIES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Signature campus events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chapter the most useful AI room in college.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EAF1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77063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93522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19072" y="2734056"/>
            <a:ext cx="218937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Saturdays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804672" y="3611880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deep dive into one concept, paper, or model family.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338218" y="25146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FFF0E4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94250" y="277063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842" y="2935224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08650" y="2734056"/>
            <a:ext cx="218937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Nights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4594250" y="3611880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focused sessions where you ship notebooks or mini demos.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8127797" y="25146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EAF1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83829" y="277063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421" y="293522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98229" y="2734056"/>
            <a:ext cx="218937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Paper-to-Code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8383829" y="3611880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paper into diagrams, pseudocode, and a small implementation.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548640" y="45720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EAF1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82803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992624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19072" y="4791456"/>
            <a:ext cx="218937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 Clinics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804672" y="5669280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new models, compare tradeoffs, document setup, report results.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4338218" y="45720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FFF0E4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94250" y="482803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842" y="4992624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08650" y="4791456"/>
            <a:ext cx="218937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+ Industry Dialogues</a:t>
            </a:r>
            <a:endParaRPr lang="en-US" sz="1900" dirty="0"/>
          </a:p>
        </p:txBody>
      </p:sp>
      <p:sp>
        <p:nvSpPr>
          <p:cNvPr id="33" name="Text 25"/>
          <p:cNvSpPr txBox="1"/>
          <p:nvPr/>
        </p:nvSpPr>
        <p:spPr>
          <a:xfrm>
            <a:off x="4594250" y="5669280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Researchers, practitioners, founders, and alumni — high-signal talks.</a:t>
            </a:r>
            <a:endParaRPr lang="en-US" sz="1450" dirty="0"/>
          </a:p>
        </p:txBody>
      </p:sp>
      <p:sp>
        <p:nvSpPr>
          <p:cNvPr id="34" name="Shape 26"/>
          <p:cNvSpPr/>
          <p:nvPr/>
        </p:nvSpPr>
        <p:spPr>
          <a:xfrm>
            <a:off x="8127797" y="4572000"/>
            <a:ext cx="3515258" cy="1783080"/>
          </a:xfrm>
          <a:prstGeom prst="roundRect">
            <a:avLst>
              <a:gd name="adj" fmla="val 7179"/>
            </a:avLst>
          </a:prstGeom>
          <a:solidFill>
            <a:srgbClr val="EAF1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383829" y="482803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8421" y="4992624"/>
            <a:ext cx="402336" cy="40233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298229" y="4791456"/>
            <a:ext cx="218937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AI Showcase</a:t>
            </a:r>
            <a:endParaRPr lang="en-US" sz="1900" dirty="0"/>
          </a:p>
        </p:txBody>
      </p:sp>
      <p:sp>
        <p:nvSpPr>
          <p:cNvPr id="38" name="Text 29"/>
          <p:cNvSpPr txBox="1"/>
          <p:nvPr/>
        </p:nvSpPr>
        <p:spPr>
          <a:xfrm>
            <a:off x="8383829" y="5669280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demos, research posters, open-source wins, and awards.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HOW WE MEASURE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&gt; attendance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matters — but what your chapter builds and leaves behind is the real signal.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87168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688336"/>
            <a:ext cx="512064" cy="51206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65" y="2826593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89888" y="2688336"/>
            <a:ext cx="16420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notes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331012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breakdowns, concept &amp; literature maps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3379394" y="2487168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80562" y="2688336"/>
            <a:ext cx="512064" cy="51206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9" y="2826593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20642" y="2688336"/>
            <a:ext cx="16420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3580562" y="331012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that repeat a known result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10148" y="2487168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1316" y="2688336"/>
            <a:ext cx="512064" cy="51206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573" y="2826593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51396" y="2688336"/>
            <a:ext cx="16420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PRs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411316" y="331012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tests, adapters, bug fixes, examples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9040901" y="2487168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242069" y="2688336"/>
            <a:ext cx="512064" cy="51206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0327" y="2826593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82149" y="2688336"/>
            <a:ext cx="16420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Mini-products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242069" y="331012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AI tools for campus or local problems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548640" y="4087368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49808" y="4288536"/>
            <a:ext cx="512064" cy="51206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065" y="4426793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389888" y="4288536"/>
            <a:ext cx="16420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749808" y="491032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deep dives and recorded explainers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3379394" y="4087368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580562" y="4288536"/>
            <a:ext cx="512064" cy="51206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8819" y="4426793"/>
            <a:ext cx="235549" cy="235549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220642" y="4288536"/>
            <a:ext cx="16420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3580562" y="491032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models, datasets, methods, tools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6210148" y="4087368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411316" y="4288536"/>
            <a:ext cx="512064" cy="512064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9573" y="4426793"/>
            <a:ext cx="235549" cy="235549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051396" y="4288536"/>
            <a:ext cx="16420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days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6411316" y="491032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Cross-college showcases and project reviews</a:t>
            </a:r>
            <a:endParaRPr lang="en-US" sz="1350" dirty="0"/>
          </a:p>
        </p:txBody>
      </p:sp>
      <p:sp>
        <p:nvSpPr>
          <p:cNvPr id="44" name="Shape 34"/>
          <p:cNvSpPr/>
          <p:nvPr/>
        </p:nvSpPr>
        <p:spPr>
          <a:xfrm>
            <a:off x="9040901" y="4087368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9242069" y="4288536"/>
            <a:ext cx="512064" cy="512064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0327" y="4426793"/>
            <a:ext cx="235549" cy="235549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882149" y="4288536"/>
            <a:ext cx="16420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writing</a:t>
            </a:r>
            <a:endParaRPr lang="en-US" sz="1700" dirty="0"/>
          </a:p>
        </p:txBody>
      </p:sp>
      <p:sp>
        <p:nvSpPr>
          <p:cNvPr id="48" name="Text 37"/>
          <p:cNvSpPr txBox="1"/>
          <p:nvPr/>
        </p:nvSpPr>
        <p:spPr>
          <a:xfrm>
            <a:off x="9242069" y="491032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Blogs, explainers, READMEs, diagrams</a:t>
            </a:r>
            <a:endParaRPr lang="en-US" sz="1350" dirty="0"/>
          </a:p>
        </p:txBody>
      </p:sp>
      <p:sp>
        <p:nvSpPr>
          <p:cNvPr id="49" name="Shape 38"/>
          <p:cNvSpPr/>
          <p:nvPr/>
        </p:nvSpPr>
        <p:spPr>
          <a:xfrm>
            <a:off x="548640" y="5577840"/>
            <a:ext cx="11094415" cy="777240"/>
          </a:xfrm>
          <a:prstGeom prst="roundRect">
            <a:avLst>
              <a:gd name="adj" fmla="val 16471"/>
            </a:avLst>
          </a:prstGeom>
          <a:solidFill>
            <a:srgbClr val="005AE9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" y="5760720"/>
            <a:ext cx="411480" cy="41148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1463040" y="557784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goal: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year-end, your chapter has a public body of work that proves learning happened.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YOUR SUPPORT SYSTEM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You’re never alone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Yatra is your network, technical backbone, and amplifier.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3291840" cy="3840480"/>
          </a:xfrm>
          <a:prstGeom prst="roundRect">
            <a:avLst>
              <a:gd name="adj" fmla="val 4444"/>
            </a:avLst>
          </a:prstGeom>
          <a:solidFill>
            <a:srgbClr val="005AE9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834640"/>
            <a:ext cx="731520" cy="73152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303215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3794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lead locally.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4617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D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back you all the way.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· curriculum · mentors · stage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114800" y="2514600"/>
            <a:ext cx="3649828" cy="836676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97680" y="2681478"/>
            <a:ext cx="502920" cy="50292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468" y="2817266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956048" y="2606040"/>
            <a:ext cx="2689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starter kit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956048" y="2916936"/>
            <a:ext cx="2689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Charter, roles, formats, launch checklist, monthly plans.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993228" y="2514600"/>
            <a:ext cx="3649828" cy="836676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176108" y="2681478"/>
            <a:ext cx="502920" cy="50292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2817266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834476" y="2606040"/>
            <a:ext cx="2689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curriculum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834476" y="2916936"/>
            <a:ext cx="2689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Tracks, workshop themes, paper lists, hands-on problems.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114800" y="3515868"/>
            <a:ext cx="3649828" cy="836676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297680" y="3682746"/>
            <a:ext cx="502920" cy="50292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3468" y="3818534"/>
            <a:ext cx="231343" cy="23134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956048" y="3607308"/>
            <a:ext cx="2689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sprints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956048" y="3918204"/>
            <a:ext cx="2689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Cross-college teams on a paper, benchmark, or dataset.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7993228" y="3515868"/>
            <a:ext cx="3649828" cy="836676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76108" y="3682746"/>
            <a:ext cx="502920" cy="50292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3818534"/>
            <a:ext cx="231343" cy="23134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834476" y="3607308"/>
            <a:ext cx="2689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challenges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834476" y="3918204"/>
            <a:ext cx="2689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problems that end in demos, repos, and useful tools.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4114800" y="4517136"/>
            <a:ext cx="3649828" cy="836676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297680" y="4684014"/>
            <a:ext cx="502920" cy="50292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3468" y="4819802"/>
            <a:ext cx="231343" cy="23134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956048" y="4608576"/>
            <a:ext cx="2689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network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4956048" y="4919472"/>
            <a:ext cx="2689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Practitioners, researchers, alumni, OSS contributors.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7993228" y="4517136"/>
            <a:ext cx="3649828" cy="836676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8176108" y="4684014"/>
            <a:ext cx="502920" cy="50292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1896" y="4819802"/>
            <a:ext cx="231343" cy="231343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834476" y="4608576"/>
            <a:ext cx="2689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showcases</a:t>
            </a:r>
            <a:endParaRPr lang="en-US" sz="1600" dirty="0"/>
          </a:p>
        </p:txBody>
      </p:sp>
      <p:sp>
        <p:nvSpPr>
          <p:cNvPr id="44" name="Text 34"/>
          <p:cNvSpPr txBox="1"/>
          <p:nvPr/>
        </p:nvSpPr>
        <p:spPr>
          <a:xfrm>
            <a:off x="8834476" y="4919472"/>
            <a:ext cx="2689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work to the wider AI Yatra community.</a:t>
            </a:r>
            <a:endParaRPr lang="en-US" sz="1300" dirty="0"/>
          </a:p>
        </p:txBody>
      </p:sp>
      <p:sp>
        <p:nvSpPr>
          <p:cNvPr id="45" name="Shape 35"/>
          <p:cNvSpPr/>
          <p:nvPr/>
        </p:nvSpPr>
        <p:spPr>
          <a:xfrm>
            <a:off x="4114800" y="5518404"/>
            <a:ext cx="3649828" cy="836676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4297680" y="5685282"/>
            <a:ext cx="502920" cy="50292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3468" y="5821070"/>
            <a:ext cx="231343" cy="231343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956048" y="5609844"/>
            <a:ext cx="2689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pipeline</a:t>
            </a:r>
            <a:endParaRPr lang="en-US" sz="1600" dirty="0"/>
          </a:p>
        </p:txBody>
      </p:sp>
      <p:sp>
        <p:nvSpPr>
          <p:cNvPr id="49" name="Text 38"/>
          <p:cNvSpPr txBox="1"/>
          <p:nvPr/>
        </p:nvSpPr>
        <p:spPr>
          <a:xfrm>
            <a:off x="4956048" y="5920740"/>
            <a:ext cx="2689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finding and inviting speakers for your sessions.</a:t>
            </a:r>
            <a:endParaRPr lang="en-US" sz="1300" dirty="0"/>
          </a:p>
        </p:txBody>
      </p:sp>
      <p:sp>
        <p:nvSpPr>
          <p:cNvPr id="50" name="Shape 39"/>
          <p:cNvSpPr/>
          <p:nvPr/>
        </p:nvSpPr>
        <p:spPr>
          <a:xfrm>
            <a:off x="7993228" y="5518404"/>
            <a:ext cx="3649828" cy="836676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8176108" y="5685282"/>
            <a:ext cx="502920" cy="50292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1896" y="5821070"/>
            <a:ext cx="231343" cy="231343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8834476" y="5609844"/>
            <a:ext cx="2689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600" dirty="0"/>
          </a:p>
        </p:txBody>
      </p:sp>
      <p:sp>
        <p:nvSpPr>
          <p:cNvPr id="54" name="Text 42"/>
          <p:cNvSpPr txBox="1"/>
          <p:nvPr/>
        </p:nvSpPr>
        <p:spPr>
          <a:xfrm>
            <a:off x="8834476" y="5920740"/>
            <a:ext cx="26897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 identity and certificates for meaningful work.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RECOGNITION LADDER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up your journey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is earned through contribution, leadership, and continuity — every badge means real work.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2072579" cy="1554480"/>
          </a:xfrm>
          <a:prstGeom prst="roundRect">
            <a:avLst>
              <a:gd name="adj" fmla="val 8235"/>
            </a:avLst>
          </a:prstGeom>
          <a:solidFill>
            <a:srgbClr val="EAF1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3657600"/>
            <a:ext cx="566928" cy="566928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91" y="38106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950208"/>
            <a:ext cx="1112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4315968"/>
            <a:ext cx="17525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4919472"/>
            <a:ext cx="17525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Attends, learns, and joins chapter activities.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804099" y="3675888"/>
            <a:ext cx="2072579" cy="1810512"/>
          </a:xfrm>
          <a:prstGeom prst="roundRect">
            <a:avLst>
              <a:gd name="adj" fmla="val 7071"/>
            </a:avLst>
          </a:prstGeom>
          <a:solidFill>
            <a:srgbClr val="D6E4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986979" y="3401568"/>
            <a:ext cx="566928" cy="566928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050" y="3554639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72779" y="3694176"/>
            <a:ext cx="1112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2986979" y="4059936"/>
            <a:ext cx="17525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2986979" y="4663440"/>
            <a:ext cx="17525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notebooks, demos, summaries, or tools.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059558" y="3419856"/>
            <a:ext cx="2072579" cy="2066544"/>
          </a:xfrm>
          <a:prstGeom prst="roundRect">
            <a:avLst>
              <a:gd name="adj" fmla="val 6195"/>
            </a:avLst>
          </a:prstGeom>
          <a:solidFill>
            <a:srgbClr val="A9C8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242438" y="3145536"/>
            <a:ext cx="566928" cy="566928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09" y="3298607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928238" y="3438144"/>
            <a:ext cx="1112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242438" y="3803904"/>
            <a:ext cx="17525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Contributor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5242438" y="4407408"/>
            <a:ext cx="17525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papers, reproduces results, publishes notes.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315017" y="3163824"/>
            <a:ext cx="2072579" cy="2322576"/>
          </a:xfrm>
          <a:prstGeom prst="roundRect">
            <a:avLst>
              <a:gd name="adj" fmla="val 6177"/>
            </a:avLst>
          </a:prstGeom>
          <a:solidFill>
            <a:srgbClr val="4F8CF6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497897" y="2889504"/>
            <a:ext cx="566928" cy="566928"/>
          </a:xfrm>
          <a:prstGeom prst="ellipse">
            <a:avLst/>
          </a:prstGeom>
          <a:solidFill>
            <a:srgbClr val="0B1B3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0968" y="3042575"/>
            <a:ext cx="260787" cy="26078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183697" y="3182112"/>
            <a:ext cx="1112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7497897" y="3547872"/>
            <a:ext cx="17525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Lead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7497897" y="4151376"/>
            <a:ext cx="17525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monthly rhythm, grows the team, creates outcomes.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9570476" y="2907792"/>
            <a:ext cx="2072579" cy="2578608"/>
          </a:xfrm>
          <a:prstGeom prst="roundRect">
            <a:avLst>
              <a:gd name="adj" fmla="val 6177"/>
            </a:avLst>
          </a:prstGeom>
          <a:solidFill>
            <a:srgbClr val="005AE9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9753356" y="2633472"/>
            <a:ext cx="566928" cy="566928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427" y="2786543"/>
            <a:ext cx="260787" cy="26078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439156" y="2926080"/>
            <a:ext cx="1112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9753356" y="3291840"/>
            <a:ext cx="17525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Yatra Fellow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9753356" y="3895344"/>
            <a:ext cx="17525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cross-college work and mentors other chapters.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COMMITMENT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3063240" y="5742432"/>
            <a:ext cx="2042084" cy="411480"/>
          </a:xfrm>
          <a:prstGeom prst="roundRect">
            <a:avLst>
              <a:gd name="adj" fmla="val 48889"/>
            </a:avLst>
          </a:prstGeom>
          <a:solidFill>
            <a:srgbClr val="EAF1FF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3063240" y="5742432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hrs / month</a:t>
            </a:r>
            <a:endParaRPr lang="en-US" sz="1400" dirty="0"/>
          </a:p>
        </p:txBody>
      </p:sp>
      <p:sp>
        <p:nvSpPr>
          <p:cNvPr id="42" name="Shape 34"/>
          <p:cNvSpPr/>
          <p:nvPr/>
        </p:nvSpPr>
        <p:spPr>
          <a:xfrm>
            <a:off x="5242484" y="5742432"/>
            <a:ext cx="2042084" cy="411480"/>
          </a:xfrm>
          <a:prstGeom prst="roundRect">
            <a:avLst>
              <a:gd name="adj" fmla="val 48889"/>
            </a:avLst>
          </a:prstGeom>
          <a:solidFill>
            <a:srgbClr val="FFF0E4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5242484" y="5742432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chapter activity / month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7421728" y="5742432"/>
            <a:ext cx="2042084" cy="411480"/>
          </a:xfrm>
          <a:prstGeom prst="roundRect">
            <a:avLst>
              <a:gd name="adj" fmla="val 48889"/>
            </a:avLst>
          </a:prstGeom>
          <a:solidFill>
            <a:srgbClr val="EAF1FF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7421728" y="5742432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public output / month</a:t>
            </a:r>
            <a:endParaRPr lang="en-US" sz="1400" dirty="0"/>
          </a:p>
        </p:txBody>
      </p:sp>
      <p:sp>
        <p:nvSpPr>
          <p:cNvPr id="46" name="Shape 38"/>
          <p:cNvSpPr/>
          <p:nvPr/>
        </p:nvSpPr>
        <p:spPr>
          <a:xfrm>
            <a:off x="9600971" y="5742432"/>
            <a:ext cx="2042084" cy="411480"/>
          </a:xfrm>
          <a:prstGeom prst="roundRect">
            <a:avLst>
              <a:gd name="adj" fmla="val 48889"/>
            </a:avLst>
          </a:prstGeom>
          <a:solidFill>
            <a:srgbClr val="FFF0E4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9600971" y="5742432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successor trained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100-DAY LAUNCH PLAN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100 days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an active chapter in one semester.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2306665" cy="713232"/>
          </a:xfrm>
          <a:prstGeom prst="homePlate">
            <a:avLst/>
          </a:prstGeom>
          <a:solidFill>
            <a:srgbClr val="7FAE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560320"/>
            <a:ext cx="189518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1–15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745577" y="2560320"/>
            <a:ext cx="2306665" cy="713232"/>
          </a:xfrm>
          <a:prstGeom prst="chevron">
            <a:avLst/>
          </a:prstGeom>
          <a:solidFill>
            <a:srgbClr val="5094F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5617" y="2560320"/>
            <a:ext cx="166658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16–30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942515" y="2560320"/>
            <a:ext cx="2306665" cy="713232"/>
          </a:xfrm>
          <a:prstGeom prst="chevron">
            <a:avLst/>
          </a:prstGeom>
          <a:solidFill>
            <a:srgbClr val="2A78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62555" y="2560320"/>
            <a:ext cx="166658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139452" y="2560320"/>
            <a:ext cx="2306665" cy="713232"/>
          </a:xfrm>
          <a:prstGeom prst="chevron">
            <a:avLst/>
          </a:prstGeom>
          <a:solidFill>
            <a:srgbClr val="005A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59492" y="2560320"/>
            <a:ext cx="166658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336390" y="2560320"/>
            <a:ext cx="2306665" cy="713232"/>
          </a:xfrm>
          <a:prstGeom prst="chevron">
            <a:avLst/>
          </a:prstGeom>
          <a:solidFill>
            <a:srgbClr val="FF7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56430" y="2560320"/>
            <a:ext cx="166658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91–100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520440"/>
            <a:ext cx="2057949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9808" y="3721608"/>
            <a:ext cx="530352" cy="530352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03" y="3864803"/>
            <a:ext cx="243962" cy="24396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49808" y="4389120"/>
            <a:ext cx="1692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align with faculty, form a 3–6 member core team, write your charter.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2807757" y="3520440"/>
            <a:ext cx="2057949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008925" y="3721608"/>
            <a:ext cx="530352" cy="530352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120" y="3864803"/>
            <a:ext cx="243962" cy="24396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3008925" y="4389120"/>
            <a:ext cx="1692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orientation, pick tracks, publish the calendar, recruit founding members.</a:t>
            </a:r>
            <a:endParaRPr lang="en-US" sz="1450" dirty="0"/>
          </a:p>
        </p:txBody>
      </p:sp>
      <p:sp>
        <p:nvSpPr>
          <p:cNvPr id="27" name="Shape 22"/>
          <p:cNvSpPr/>
          <p:nvPr/>
        </p:nvSpPr>
        <p:spPr>
          <a:xfrm>
            <a:off x="5066873" y="3520440"/>
            <a:ext cx="2057949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268041" y="3721608"/>
            <a:ext cx="530352" cy="530352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1236" y="3864803"/>
            <a:ext cx="243962" cy="24396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268041" y="4389120"/>
            <a:ext cx="1692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two learning circles and one hands-on lab. Publish notes and a repo.</a:t>
            </a:r>
            <a:endParaRPr lang="en-US" sz="1450" dirty="0"/>
          </a:p>
        </p:txBody>
      </p:sp>
      <p:sp>
        <p:nvSpPr>
          <p:cNvPr id="31" name="Shape 25"/>
          <p:cNvSpPr/>
          <p:nvPr/>
        </p:nvSpPr>
        <p:spPr>
          <a:xfrm>
            <a:off x="7325990" y="3520440"/>
            <a:ext cx="2057949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527158" y="3721608"/>
            <a:ext cx="530352" cy="530352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0353" y="3864803"/>
            <a:ext cx="243962" cy="24396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527158" y="4389120"/>
            <a:ext cx="1692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a speaker or run paper-to-code. Start a project or reproduction.</a:t>
            </a:r>
            <a:endParaRPr lang="en-US" sz="1450" dirty="0"/>
          </a:p>
        </p:txBody>
      </p:sp>
      <p:sp>
        <p:nvSpPr>
          <p:cNvPr id="35" name="Shape 28"/>
          <p:cNvSpPr/>
          <p:nvPr/>
        </p:nvSpPr>
        <p:spPr>
          <a:xfrm>
            <a:off x="9585107" y="3520440"/>
            <a:ext cx="2057949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9786275" y="3721608"/>
            <a:ext cx="530352" cy="530352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9470" y="3864803"/>
            <a:ext cx="243962" cy="24396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786275" y="4389120"/>
            <a:ext cx="1692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100-day report, demo output, plan next quarter, add juniors.</a:t>
            </a:r>
            <a:endParaRPr lang="en-US" sz="1450" dirty="0"/>
          </a:p>
        </p:txBody>
      </p:sp>
      <p:sp>
        <p:nvSpPr>
          <p:cNvPr id="39" name="Shape 31"/>
          <p:cNvSpPr/>
          <p:nvPr/>
        </p:nvSpPr>
        <p:spPr>
          <a:xfrm>
            <a:off x="548640" y="5669280"/>
            <a:ext cx="11094415" cy="685800"/>
          </a:xfrm>
          <a:prstGeom prst="roundRect">
            <a:avLst>
              <a:gd name="adj" fmla="val 18667"/>
            </a:avLst>
          </a:prstGeom>
          <a:solidFill>
            <a:srgbClr val="EAF1FF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868680" y="56692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principle:  </a:t>
            </a:r>
            <a:pPr indent="0" marL="0">
              <a:buNone/>
            </a:pPr>
            <a:r>
              <a:rPr lang="en-US" sz="1800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execute  ·  serious enough to matter  ·  public enough to inspire.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WHO SHOULD APPLY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this you?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to be an AI expert. You need curiosity, consistency, and the will to build with others.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5410048" cy="1783080"/>
          </a:xfrm>
          <a:prstGeom prst="roundRect">
            <a:avLst>
              <a:gd name="adj" fmla="val 7179"/>
            </a:avLst>
          </a:prstGeom>
          <a:solidFill>
            <a:srgbClr val="EAF1FF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834640"/>
            <a:ext cx="777240" cy="77724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5" y="304449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2834640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1874520" y="3337560"/>
            <a:ext cx="3809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Curious, reliable, willing to learn in public, comfortable organizing peers, open to feedback.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33008" y="2514600"/>
            <a:ext cx="5410048" cy="1783080"/>
          </a:xfrm>
          <a:prstGeom prst="roundRect">
            <a:avLst>
              <a:gd name="adj" fmla="val 7179"/>
            </a:avLst>
          </a:prstGeom>
          <a:solidFill>
            <a:srgbClr val="FFF0E4"/>
          </a:solidFill>
          <a:ln/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53048" y="2834640"/>
            <a:ext cx="777240" cy="77724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2" y="304449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558888" y="2834640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goal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7558888" y="3337560"/>
            <a:ext cx="3809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collecting, hype posting, attendance-only participation, or one-person control.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4572000"/>
            <a:ext cx="541004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892040"/>
            <a:ext cx="777240" cy="77724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535" y="5101895"/>
            <a:ext cx="357530" cy="3575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874520" y="4892040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commitment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1874520" y="5394960"/>
            <a:ext cx="3809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hrs/month · one chapter activity/month · one public technical output/month.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233008" y="4572000"/>
            <a:ext cx="541004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53048" y="4892040"/>
            <a:ext cx="777240" cy="77724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902" y="5101895"/>
            <a:ext cx="357530" cy="35753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558888" y="4892040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look for</a:t>
            </a:r>
            <a:endParaRPr lang="en-US" sz="2400" dirty="0"/>
          </a:p>
        </p:txBody>
      </p:sp>
      <p:sp>
        <p:nvSpPr>
          <p:cNvPr id="28" name="Text 21"/>
          <p:cNvSpPr txBox="1"/>
          <p:nvPr/>
        </p:nvSpPr>
        <p:spPr>
          <a:xfrm>
            <a:off x="7558888" y="5394960"/>
            <a:ext cx="3809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Initiative: notes, GitHub, projects, teaching, community work — or strong intent.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420624" cy="3844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474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51215" y="3840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51215" y="3840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CALL TO ACTION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your chapter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your college deserves is four steps away.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0" y="3200400"/>
            <a:ext cx="8534095" cy="914"/>
          </a:xfrm>
          <a:prstGeom prst="line">
            <a:avLst/>
          </a:prstGeom>
          <a:noFill/>
          <a:ln w="50800">
            <a:solidFill>
              <a:srgbClr val="D6E4F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097280" y="2468880"/>
            <a:ext cx="1463040" cy="146304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11" name="Shape 8"/>
          <p:cNvSpPr/>
          <p:nvPr/>
        </p:nvSpPr>
        <p:spPr>
          <a:xfrm>
            <a:off x="1234440" y="2606040"/>
            <a:ext cx="1188720" cy="118872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394" y="2926994"/>
            <a:ext cx="546811" cy="54681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48840" y="2423160"/>
            <a:ext cx="420624" cy="420624"/>
          </a:xfrm>
          <a:prstGeom prst="ellipse">
            <a:avLst/>
          </a:prstGeom>
          <a:solidFill>
            <a:srgbClr val="0B1B3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14884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together 3–6 serious students.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941978" y="2468880"/>
            <a:ext cx="1463040" cy="146304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079138" y="2606040"/>
            <a:ext cx="1188720" cy="118872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093" y="2926994"/>
            <a:ext cx="546811" cy="546811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993538" y="2423160"/>
            <a:ext cx="420624" cy="420624"/>
          </a:xfrm>
          <a:prstGeom prst="ellipse">
            <a:avLst/>
          </a:prstGeom>
          <a:solidFill>
            <a:srgbClr val="0B1B3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993538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3393338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Align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3439058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faculty and get campus approval.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786677" y="2468880"/>
            <a:ext cx="1463040" cy="146304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25" name="Shape 20"/>
          <p:cNvSpPr/>
          <p:nvPr/>
        </p:nvSpPr>
        <p:spPr>
          <a:xfrm>
            <a:off x="6923837" y="2606040"/>
            <a:ext cx="1188720" cy="1188720"/>
          </a:xfrm>
          <a:prstGeom prst="ellipse">
            <a:avLst/>
          </a:prstGeom>
          <a:solidFill>
            <a:srgbClr val="005AE9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791" y="2926994"/>
            <a:ext cx="546811" cy="546811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838237" y="2423160"/>
            <a:ext cx="420624" cy="420624"/>
          </a:xfrm>
          <a:prstGeom prst="ellipse">
            <a:avLst/>
          </a:prstGeom>
          <a:solidFill>
            <a:srgbClr val="0B1B3F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838237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238037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Apply</a:t>
            </a:r>
            <a:endParaRPr lang="en-US" sz="2400" dirty="0"/>
          </a:p>
        </p:txBody>
      </p:sp>
      <p:sp>
        <p:nvSpPr>
          <p:cNvPr id="30" name="Text 24"/>
          <p:cNvSpPr txBox="1"/>
          <p:nvPr/>
        </p:nvSpPr>
        <p:spPr>
          <a:xfrm>
            <a:off x="6283757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chapter proposal to AI Yatra.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9631375" y="2468880"/>
            <a:ext cx="1463040" cy="146304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32" name="Shape 26"/>
          <p:cNvSpPr/>
          <p:nvPr/>
        </p:nvSpPr>
        <p:spPr>
          <a:xfrm>
            <a:off x="9768535" y="2606040"/>
            <a:ext cx="1188720" cy="118872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9490" y="2926994"/>
            <a:ext cx="546811" cy="546811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0682935" y="2423160"/>
            <a:ext cx="420624" cy="420624"/>
          </a:xfrm>
          <a:prstGeom prst="ellipse">
            <a:avLst/>
          </a:prstGeom>
          <a:solidFill>
            <a:srgbClr val="0B1B3F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10682935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9082735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</a:t>
            </a:r>
            <a:endParaRPr lang="en-US" sz="2400" dirty="0"/>
          </a:p>
        </p:txBody>
      </p:sp>
      <p:sp>
        <p:nvSpPr>
          <p:cNvPr id="37" name="Text 30"/>
          <p:cNvSpPr txBox="1"/>
          <p:nvPr/>
        </p:nvSpPr>
        <p:spPr>
          <a:xfrm>
            <a:off x="9128455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first session. Publish the outcome.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1737360" y="5440680"/>
            <a:ext cx="8716975" cy="868680"/>
          </a:xfrm>
          <a:prstGeom prst="roundRect">
            <a:avLst>
              <a:gd name="adj" fmla="val 49474"/>
            </a:avLst>
          </a:prstGeom>
          <a:solidFill>
            <a:srgbClr val="005AE9"/>
          </a:solidFill>
          <a:ln/>
          <a:effectLst>
            <a:outerShdw sx="100000" sy="100000" kx="0" ky="0" algn="bl" rotWithShape="0" blurRad="228600" dist="50800" dir="5400000">
              <a:srgbClr val="005AE9">
                <a:alpha val="30000"/>
              </a:srgbClr>
            </a:outerShdw>
          </a:effectLst>
        </p:spPr>
      </p:sp>
      <p:sp>
        <p:nvSpPr>
          <p:cNvPr id="39" name="Text 32"/>
          <p:cNvSpPr txBox="1"/>
          <p:nvPr/>
        </p:nvSpPr>
        <p:spPr>
          <a:xfrm>
            <a:off x="2194560" y="5440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Explore AI Yatra</a:t>
            </a:r>
            <a:endParaRPr lang="en-US" sz="20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5733288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5852160" y="5440680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aiyatra.io   •   meetup.com/aiyatra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7088" y="274320"/>
            <a:ext cx="3017520" cy="3017520"/>
          </a:xfrm>
          <a:prstGeom prst="ellipse">
            <a:avLst/>
          </a:prstGeom>
          <a:ln w="15875">
            <a:solidFill>
              <a:srgbClr val="B9CFF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907128" y="594360"/>
            <a:ext cx="2377440" cy="2377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9F8"/>
            </a:solidFill>
            <a:prstDash val="solid"/>
          </a:ln>
          <a:effectLst>
            <a:outerShdw sx="100000" sy="100000" kx="0" ky="0" algn="bl" rotWithShape="0" blurRad="381000" dist="76200" dir="5400000">
              <a:srgbClr val="005AE9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64" y="1064276"/>
            <a:ext cx="1572768" cy="1437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12768" y="1234440"/>
            <a:ext cx="201168" cy="20116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6" name="Shape 3"/>
          <p:cNvSpPr/>
          <p:nvPr/>
        </p:nvSpPr>
        <p:spPr>
          <a:xfrm>
            <a:off x="7668616" y="822960"/>
            <a:ext cx="164592" cy="164592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7" name="Shape 4"/>
          <p:cNvSpPr/>
          <p:nvPr/>
        </p:nvSpPr>
        <p:spPr>
          <a:xfrm>
            <a:off x="7787488" y="2560320"/>
            <a:ext cx="237744" cy="237744"/>
          </a:xfrm>
          <a:prstGeom prst="ellipse">
            <a:avLst/>
          </a:prstGeom>
          <a:solidFill>
            <a:srgbClr val="005AE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5A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Yatra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0" y="4160520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Research. </a:t>
            </a:r>
            <a:pPr algn="ctr" indent="0" marL="0">
              <a:buNone/>
            </a:pPr>
            <a:r>
              <a:rPr lang="en-US" sz="3000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Build. </a:t>
            </a:r>
            <a:pPr algn="ctr" indent="0" marL="0">
              <a:buNone/>
            </a:pPr>
            <a:r>
              <a:rPr lang="en-US" sz="3000" dirty="0">
                <a:solidFill>
                  <a:srgbClr val="0B1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Transform.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0" y="4800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build the future of AI — together, starting on your campus.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98068" y="55778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98068" y="5577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aiyatra.io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918308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918308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meetup.com/aiyatra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32908" y="55778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432908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linkedin.com/company/aiyatra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724748" y="55778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9F8"/>
            </a:solidFill>
            <a:prstDash val="solid"/>
          </a:ln>
          <a:effectLst>
            <a:outerShdw sx="100000" sy="100000" kx="0" ky="0" algn="bl" rotWithShape="0" blurRad="177800" dist="50800" dir="5400000">
              <a:srgbClr val="0B1B3F">
                <a:alpha val="9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724748" y="5577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github.com/AI-Yatra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Yatra Student Ambassador Program</dc:title>
  <dc:subject>PptxGenJS Presentation</dc:subject>
  <dc:creator>AI Yatra</dc:creator>
  <cp:lastModifiedBy>AI Yatra</cp:lastModifiedBy>
  <cp:revision>1</cp:revision>
  <dcterms:created xsi:type="dcterms:W3CDTF">2026-09-27T01:05:53Z</dcterms:created>
  <dcterms:modified xsi:type="dcterms:W3CDTF">2026-09-27T01:05:53Z</dcterms:modified>
</cp:coreProperties>
</file>