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68635A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8635A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420" y="97790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91440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914400"/>
            <a:ext cx="2651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✦  Democratizing AI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353312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272520"/>
                </a:solidFill>
                <a:latin typeface="Caveat"/>
              </a:defRPr>
            </a:pPr>
            <a:r>
              <a:t>Research. Build. Transform.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1460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8635A"/>
                </a:solidFill>
                <a:latin typeface="DM Sans"/>
              </a:defRPr>
            </a:pPr>
            <a:r>
              <a:t>AIYatra is Hyderabad's open AI community — a place where beginners and experts share knowledge, ship real projects, and master machine learning together. No paywalls, no prerequisites. Just curiosity and a laptop.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420" y="3583940"/>
            <a:ext cx="2377440" cy="475488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520440"/>
            <a:ext cx="2377440" cy="475488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520440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RSVP to the next meetup 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26740" y="3583940"/>
            <a:ext cx="2286000" cy="475488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63240" y="3520440"/>
            <a:ext cx="2286000" cy="475488"/>
          </a:xfrm>
          <a:prstGeom prst="roundRect">
            <a:avLst>
              <a:gd name="adj" fmla="val 18000"/>
            </a:avLst>
          </a:prstGeom>
          <a:solidFill>
            <a:srgbClr val="F9F7F1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520440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72520"/>
                </a:solidFill>
                <a:latin typeface="DM Sans"/>
              </a:defRPr>
            </a:pPr>
            <a:r>
              <a:t>Explore past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72520"/>
                </a:solidFill>
                <a:latin typeface="Caveat"/>
              </a:defRPr>
            </a:pPr>
            <a:r>
              <a:t>2,957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8635A"/>
                </a:solidFill>
                <a:latin typeface="DM Sans"/>
              </a:defRPr>
            </a:pPr>
            <a:r>
              <a:t>COMMUNITY MEMBERS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72520"/>
                </a:solidFill>
                <a:latin typeface="Caveat"/>
              </a:defRPr>
            </a:pPr>
            <a: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709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8635A"/>
                </a:solidFill>
                <a:latin typeface="DM Sans"/>
              </a:defRPr>
            </a:pPr>
            <a:r>
              <a:t>EVENTS HOSTED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72520"/>
                </a:solidFill>
                <a:latin typeface="Caveat"/>
              </a:defRPr>
            </a:pPr>
            <a:r>
              <a:t>4.6★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709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8635A"/>
                </a:solidFill>
                <a:latin typeface="DM Sans"/>
              </a:defRPr>
            </a:pPr>
            <a:r>
              <a:t>FROM 90 RATINGS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87260" y="977900"/>
            <a:ext cx="4434840" cy="47091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23760" y="914400"/>
            <a:ext cx="4434840" cy="47091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2222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61580" y="12065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80" y="11430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1143000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🎟  Next meetup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1430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477A9E"/>
                </a:solidFill>
                <a:latin typeface="DM Sans"/>
              </a:defRPr>
            </a:pPr>
            <a:r>
              <a:t>● RSVP open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1554480"/>
            <a:ext cx="3886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72520"/>
                </a:solidFill>
                <a:latin typeface="Caveat"/>
              </a:defRPr>
            </a:pPr>
            <a:r>
              <a:t>Harnessing Agentic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2194560"/>
            <a:ext cx="3886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8635A"/>
                </a:solidFill>
                <a:latin typeface="DM Sans"/>
              </a:defRPr>
            </a:pPr>
            <a:r>
              <a:t>Build the loop, the tools and the guardrails — and make your own coding agent that reads, plans, edits, tests and repairs its way to a verified pull request. 100% offline, zero API keys.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0" y="2971800"/>
            <a:ext cx="1828800" cy="868680"/>
          </a:xfrm>
          <a:prstGeom prst="roundRect">
            <a:avLst>
              <a:gd name="adj" fmla="val 15000"/>
            </a:avLst>
          </a:prstGeom>
          <a:solidFill>
            <a:srgbClr val="CEE1EE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30175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8635A"/>
                </a:solidFill>
                <a:latin typeface="DM Sans"/>
              </a:defRPr>
            </a:pPr>
            <a:r>
              <a:t>WHEN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246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2520"/>
                </a:solidFill>
                <a:latin typeface="DM Sans"/>
              </a:defRPr>
            </a:pPr>
            <a:r>
              <a:t>Sat, Sep 5 · 9:00 AM 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5480" y="2971800"/>
            <a:ext cx="1828800" cy="868680"/>
          </a:xfrm>
          <a:prstGeom prst="roundRect">
            <a:avLst>
              <a:gd name="adj" fmla="val 15000"/>
            </a:avLst>
          </a:prstGeom>
          <a:solidFill>
            <a:srgbClr val="D4E7D0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30175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8635A"/>
                </a:solidFill>
                <a:latin typeface="DM Sans"/>
              </a:defRPr>
            </a:pPr>
            <a:r>
              <a:t>ATTENDING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246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2520"/>
                </a:solidFill>
                <a:latin typeface="DM Sans"/>
              </a:defRPr>
            </a:pPr>
            <a:r>
              <a:t>319 learners &amp; counting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80" y="39776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1   The agent loop — the core inside Claude Code &amp; Codex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80" y="42702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2   Tools, planning &amp; self-repair in pure Python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80" y="456285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3   Guardrails &amp; sandboxing — 100% offline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61580" y="5001260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98080" y="4937760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0" y="4937760"/>
            <a:ext cx="3886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RSVP now  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C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68635A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8635A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914400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7A9E"/>
                </a:solidFill>
                <a:latin typeface="DM Sans"/>
              </a:defRPr>
            </a:pPr>
            <a:r>
              <a:t>●  EVENTS  ·  PAST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72520"/>
                </a:solidFill>
                <a:latin typeface="Caveat"/>
              </a:defRPr>
            </a:pPr>
            <a:r>
              <a:t>Hands-on Saturdays, archived on Meetup.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420" y="2075180"/>
            <a:ext cx="3593592" cy="26517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011680"/>
            <a:ext cx="3593592" cy="26517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020" y="22580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1945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EE1EE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◷  Past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06040"/>
            <a:ext cx="3136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72520"/>
                </a:solidFill>
                <a:latin typeface="Caveat"/>
              </a:defRPr>
            </a:pPr>
            <a:r>
              <a:t>PyTorch Foundations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00400"/>
            <a:ext cx="3136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8635A"/>
                </a:solidFill>
                <a:latin typeface="DM Sans"/>
              </a:defRPr>
            </a:pPr>
            <a:r>
              <a:t>Tensors, autograd and the training loop — the foundations every AI engineer stands on. Rebuilt nn.Linear from scratch.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77639"/>
            <a:ext cx="3136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2520"/>
                </a:solidFill>
                <a:latin typeface="DM Sans"/>
              </a:defRPr>
            </a:pPr>
            <a:r>
              <a:t>Sat, Aug 22 · 10:00 AM IST · 146 attended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180" y="2075180"/>
            <a:ext cx="3593592" cy="26517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0" y="2011680"/>
            <a:ext cx="3593592" cy="26517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89780" y="22580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26280" y="21945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1945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◷  Past 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606040"/>
            <a:ext cx="3136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72520"/>
                </a:solidFill>
                <a:latin typeface="Caveat"/>
              </a:defRPr>
            </a:pPr>
            <a:r>
              <a:t>Linear Algebra → Transformers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00400"/>
            <a:ext cx="3136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8635A"/>
                </a:solidFill>
                <a:latin typeface="DM Sans"/>
              </a:defRPr>
            </a:pPr>
            <a:r>
              <a:t>Vectors to attention: embeddings, Q/K/V projections, LoRA and SVD — the math beneath the models, by hand.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977639"/>
            <a:ext cx="3136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2520"/>
                </a:solidFill>
                <a:latin typeface="DM Sans"/>
              </a:defRPr>
            </a:pPr>
            <a:r>
              <a:t>Sat, Aug 15 · 10:00 AM IST · 207 attended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5940" y="2075180"/>
            <a:ext cx="3593592" cy="26517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2440" y="2011680"/>
            <a:ext cx="3593592" cy="26517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84540" y="22580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21040" y="21945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0D8EE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1945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◷  Past event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06040"/>
            <a:ext cx="3136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72520"/>
                </a:solidFill>
                <a:latin typeface="Caveat"/>
              </a:defRPr>
            </a:pPr>
            <a:r>
              <a:t>DeepSeek v3 from Scratch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200400"/>
            <a:ext cx="3136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8635A"/>
                </a:solidFill>
                <a:latin typeface="DM Sans"/>
              </a:defRPr>
            </a:pPr>
            <a:r>
              <a:t>Multi-head latent attention, MoE load balancing and RoPE scaling — the DeepSeek-V3 paper, live-coded in PyTorch.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977639"/>
            <a:ext cx="3136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2520"/>
                </a:solidFill>
                <a:latin typeface="DM Sans"/>
              </a:defRPr>
            </a:pPr>
            <a:r>
              <a:t>Sat, Aug 8 · 10:00 AM IST · 286 attended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420" y="495554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489204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F9F7F1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0292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2520"/>
                </a:solidFill>
                <a:latin typeface="Caveat"/>
              </a:defRPr>
            </a:pPr>
            <a:r>
              <a:t>The full archive lives on Meetup.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440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8635A"/>
                </a:solidFill>
                <a:latin typeface="DM Sans"/>
              </a:defRPr>
            </a:pPr>
            <a:r>
              <a:t>Photos, discussions, ratings and RSVPs — straight from the source.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96020" y="5229860"/>
            <a:ext cx="2560320" cy="457200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32520" y="5166360"/>
            <a:ext cx="2560320" cy="457200"/>
          </a:xfrm>
          <a:prstGeom prst="roundRect">
            <a:avLst>
              <a:gd name="adj" fmla="val 18000"/>
            </a:avLst>
          </a:prstGeom>
          <a:solidFill>
            <a:srgbClr val="F9F7F1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51663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72520"/>
                </a:solidFill>
                <a:latin typeface="DM Sans"/>
              </a:defRPr>
            </a:pPr>
            <a:r>
              <a:t>View all on Meetup 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68635A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8635A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914400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7A9E"/>
                </a:solidFill>
                <a:latin typeface="DM Sans"/>
              </a:defRPr>
            </a:pPr>
            <a:r>
              <a:t>◉  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72520"/>
                </a:solidFill>
                <a:latin typeface="Caveat"/>
              </a:defRPr>
            </a:pPr>
            <a:r>
              <a:t>Real rooms. Real laptops. Real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8635A"/>
                </a:solidFill>
                <a:latin typeface="DM Sans"/>
              </a:defRPr>
            </a:pPr>
            <a:r>
              <a:t>10 hands-on sessions since Hyderabad — the numbers tell the story of rooms where 2,957 members learn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420" y="2349500"/>
            <a:ext cx="3593592" cy="31089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286000"/>
            <a:ext cx="3593592" cy="3108960"/>
          </a:xfrm>
          <a:prstGeom prst="roundRect">
            <a:avLst>
              <a:gd name="adj" fmla="val 8000"/>
            </a:avLst>
          </a:prstGeom>
          <a:solidFill>
            <a:srgbClr val="F5E4AD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8635A"/>
                </a:solidFill>
                <a:latin typeface="DM Sans"/>
              </a:defRPr>
            </a:pPr>
            <a:r>
              <a:t>◉  BIGGEST ROOMS SO FAR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88920"/>
            <a:ext cx="3044952" cy="566928"/>
          </a:xfrm>
          <a:prstGeom prst="roundRect">
            <a:avLst>
              <a:gd name="adj" fmla="val 12000"/>
            </a:avLst>
          </a:prstGeom>
          <a:solidFill>
            <a:srgbClr val="F9F7F1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2520"/>
                </a:solidFill>
                <a:latin typeface="DM Sans"/>
              </a:defRPr>
            </a:pPr>
            <a:r>
              <a:t>Harnessing Agentic AI — 319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358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8635A"/>
                </a:solidFill>
                <a:latin typeface="DM Sans"/>
              </a:defRPr>
            </a:pPr>
            <a:r>
              <a:t>#1 by turnout · Sat, Sep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474720"/>
            <a:ext cx="3044952" cy="566928"/>
          </a:xfrm>
          <a:prstGeom prst="roundRect">
            <a:avLst>
              <a:gd name="adj" fmla="val 12000"/>
            </a:avLst>
          </a:prstGeom>
          <a:solidFill>
            <a:srgbClr val="F9F7F1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2520"/>
                </a:solidFill>
                <a:latin typeface="DM Sans"/>
              </a:defRPr>
            </a:pPr>
            <a:r>
              <a:t>DeepSeek v3 from Scratch — 286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21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8635A"/>
                </a:solidFill>
                <a:latin typeface="DM Sans"/>
              </a:defRPr>
            </a:pPr>
            <a:r>
              <a:t>#2 by turnout · Sat, Aug 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160520"/>
            <a:ext cx="3044952" cy="566928"/>
          </a:xfrm>
          <a:prstGeom prst="roundRect">
            <a:avLst>
              <a:gd name="adj" fmla="val 12000"/>
            </a:avLst>
          </a:prstGeom>
          <a:solidFill>
            <a:srgbClr val="F9F7F1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2520"/>
                </a:solidFill>
                <a:latin typeface="DM Sans"/>
              </a:defRPr>
            </a:pPr>
            <a:r>
              <a:t>Linear Algebra → Transformers — 207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074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8635A"/>
                </a:solidFill>
                <a:latin typeface="DM Sans"/>
              </a:defRPr>
            </a:pPr>
            <a:r>
              <a:t>#3 by turnout · Sat, Aug 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180" y="2349500"/>
            <a:ext cx="3593592" cy="31089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80" y="2286000"/>
            <a:ext cx="3593592" cy="3108960"/>
          </a:xfrm>
          <a:prstGeom prst="roundRect">
            <a:avLst>
              <a:gd name="adj" fmla="val 8000"/>
            </a:avLst>
          </a:prstGeom>
          <a:solidFill>
            <a:srgbClr val="F5F1E5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8635A"/>
                </a:solidFill>
                <a:latin typeface="DM Sans"/>
              </a:defRPr>
            </a:pPr>
            <a:r>
              <a:t>▤  LEARNING TRACKS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2788920"/>
            <a:ext cx="3044952" cy="658368"/>
          </a:xfrm>
          <a:prstGeom prst="roundRect">
            <a:avLst>
              <a:gd name="adj" fmla="val 12000"/>
            </a:avLst>
          </a:prstGeom>
          <a:solidFill>
            <a:srgbClr val="F9F7F1"/>
          </a:solidFill>
          <a:ln w="1270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2834640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Foundations. Transformer paper → code, linear algebra → attention, PyTorch tensors → training loop.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566160"/>
            <a:ext cx="3044952" cy="658368"/>
          </a:xfrm>
          <a:prstGeom prst="roundRect">
            <a:avLst>
              <a:gd name="adj" fmla="val 12000"/>
            </a:avLst>
          </a:prstGeom>
          <a:solidFill>
            <a:srgbClr val="F9F7F1"/>
          </a:solidFill>
          <a:ln w="1270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3611880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Agents. Goose end-to-end demo, DeepSeek-V3 architecture, and the Sep 5 coding-agent build.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4343400"/>
            <a:ext cx="3044952" cy="658368"/>
          </a:xfrm>
          <a:prstGeom prst="roundRect">
            <a:avLst>
              <a:gd name="adj" fmla="val 12000"/>
            </a:avLst>
          </a:prstGeom>
          <a:solidFill>
            <a:srgbClr val="F9F7F1"/>
          </a:solidFill>
          <a:ln w="1270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4389120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Reading room. A four-part evening series through the Hitchhiker's Guide to Agentic AI, Jun 30 – Jul 14.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5940" y="2349500"/>
            <a:ext cx="3593592" cy="31089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92440" y="2286000"/>
            <a:ext cx="3593592" cy="3108960"/>
          </a:xfrm>
          <a:prstGeom prst="roundRect">
            <a:avLst>
              <a:gd name="adj" fmla="val 8000"/>
            </a:avLst>
          </a:prstGeom>
          <a:solidFill>
            <a:srgbClr val="D4E7D0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8635A"/>
                </a:solidFill>
                <a:latin typeface="DM Sans"/>
              </a:defRPr>
            </a:pPr>
            <a:r>
              <a:t>▦  WHAT A SATURDAY LOOKS LIKE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2834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2520"/>
                </a:solidFill>
                <a:latin typeface="DM Sans"/>
              </a:defRPr>
            </a:pPr>
            <a:r>
              <a:t>1  9:00 — Doors &amp; check-in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063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RSVP plus the event Google form at the gate, then laptops open.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3611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2520"/>
                </a:solidFill>
                <a:latin typeface="DM Sans"/>
              </a:defRPr>
            </a:pPr>
            <a:r>
              <a:t>2  Morning — Build, not slides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3840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Live coding you follow along: tensors, attention, agent loops.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2520"/>
                </a:solidFill>
                <a:latin typeface="DM Sans"/>
              </a:defRPr>
            </a:pPr>
            <a:r>
              <a:t>3  Close — Verify &amp; 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4617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Demos, Q&amp;A, and the hallway track where teams form.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F7F1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F5E4AD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F5E4AD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914400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E4AD"/>
                </a:solidFill>
                <a:latin typeface="DM Sans"/>
              </a:defRPr>
            </a:pPr>
            <a: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9F7F1"/>
                </a:solidFill>
                <a:latin typeface="Caveat"/>
              </a:defRPr>
            </a:pPr>
            <a:r>
              <a:t>First you research. Then you build. Then you transform.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48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9F7F1"/>
                </a:solidFill>
                <a:latin typeface="DM Sans"/>
              </a:defRPr>
            </a:pPr>
            <a:r>
              <a:t>Yatra means journey. Ours takes you from curious onlooker to confident builder — through research, build, and transform, repeated every single meetup.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80360"/>
            <a:ext cx="3593592" cy="21945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0740" y="31267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0632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0D8EE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01 ·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72520"/>
                </a:solidFill>
                <a:latin typeface="Caveat"/>
              </a:defRPr>
            </a:pPr>
            <a:r>
              <a:t>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8635A"/>
                </a:solidFill>
                <a:latin typeface="DM Sans"/>
              </a:defRPr>
            </a:pPr>
            <a:r>
              <a:t>We read the papers, trace the math, and ask the naive questions out loud — so nobody has to pretend they already know.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880360"/>
            <a:ext cx="3593592" cy="21945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35500" y="31267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30632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4E7D0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06324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02 ·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72520"/>
                </a:solidFill>
                <a:latin typeface="Caveat"/>
              </a:defRPr>
            </a:pPr>
            <a: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97763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8635A"/>
                </a:solidFill>
                <a:latin typeface="DM Sans"/>
              </a:defRPr>
            </a:pPr>
            <a:r>
              <a:t>Laptops open, code on screen. Every session ships something real — a training loop, an agent harness, a working demo.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880360"/>
            <a:ext cx="3593592" cy="21945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30260" y="31267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60" y="30632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2D6CA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06324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03 · Transform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72520"/>
                </a:solidFill>
                <a:latin typeface="Caveat"/>
              </a:defRPr>
            </a:pPr>
            <a:r>
              <a:t>Transform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97763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8635A"/>
                </a:solidFill>
                <a:latin typeface="DM Sans"/>
              </a:defRPr>
            </a:pPr>
            <a:r>
              <a:t>Skills become careers, side projects become products, and strangers become collaborators. That is the AIYatra journey.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349240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E4AD"/>
                </a:solidFill>
                <a:latin typeface="DM Sans"/>
              </a:defRPr>
            </a:pPr>
            <a:r>
              <a:t>14 Meetups hosted   •   2hr Per session   •   100% Free, always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68635A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8635A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914400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7A9E"/>
                </a:solidFill>
                <a:latin typeface="DM Sans"/>
              </a:defRPr>
            </a:pPr>
            <a:r>
              <a:t>TESTIMONIALS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72520"/>
                </a:solidFill>
                <a:latin typeface="Caveat"/>
              </a:defRPr>
            </a:pPr>
            <a:r>
              <a:t>Rated 4.6★ by the people who show 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051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2520"/>
                </a:solidFill>
                <a:latin typeface="DM Sans"/>
              </a:defRPr>
            </a:pPr>
            <a:r>
              <a:t>★  4.6 · 90 ratings on Meetup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420" y="216662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10312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CEE1E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31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72520"/>
                </a:solidFill>
                <a:latin typeface="DM Sans"/>
              </a:defRPr>
            </a:pPr>
            <a:r>
              <a:t>“I walked in knowing nothing about transformers and walked out having built attention from scratch. No gatekeeping, no jargon walls — just patient, brilliant teaching.”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72520"/>
                </a:solidFill>
                <a:latin typeface="DM Sans"/>
              </a:defRPr>
            </a:pPr>
            <a:r>
              <a:t>Priya 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8635A"/>
                </a:solidFill>
                <a:latin typeface="DM Sans"/>
              </a:defRPr>
            </a:pPr>
            <a:r>
              <a:t>DATA ANALYST → ML ENGINEER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060" y="216662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37560" y="210312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D4E7D0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331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72520"/>
                </a:solidFill>
                <a:latin typeface="DM Sans"/>
              </a:defRPr>
            </a:pPr>
            <a:r>
              <a:t>“The agentic AI workshop was the best Saturday I have spent in years. We built a coding agent on our own machines, no API keys, and it actually worked.”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434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72520"/>
                </a:solidFill>
                <a:latin typeface="DM Sans"/>
              </a:defRPr>
            </a:pPr>
            <a:r>
              <a:t>Rahul 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663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8635A"/>
                </a:solidFill>
                <a:latin typeface="DM Sans"/>
              </a:defRPr>
            </a:pPr>
            <a:r>
              <a:t>BACKEND ENGINEER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5700" y="216662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210312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F5E4AD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331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72520"/>
                </a:solidFill>
                <a:latin typeface="DM Sans"/>
              </a:defRPr>
            </a:pPr>
            <a:r>
              <a:t>“As a student, most AI events felt out of reach. AIYatra is free, welcoming, and genuinely deep — the linear algebra session finally made the math click for me.”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72520"/>
                </a:solidFill>
                <a:latin typeface="DM Sans"/>
              </a:defRPr>
            </a:pPr>
            <a:r>
              <a:t>Sai Rishita 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63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8635A"/>
                </a:solidFill>
                <a:latin typeface="DM Sans"/>
              </a:defRPr>
            </a:pPr>
            <a:r>
              <a:t>CS UNDERGRADUATE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70340" y="216662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06840" y="210312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F2D6CA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2331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72520"/>
                </a:solidFill>
                <a:latin typeface="DM Sans"/>
              </a:defRPr>
            </a:pPr>
            <a:r>
              <a:t>“You come for the sessions and stay for the people. I found my co-founder, my study group, and my confidence here. This community changes trajectories.”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434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72520"/>
                </a:solidFill>
                <a:latin typeface="DM Sans"/>
              </a:defRPr>
            </a:pPr>
            <a:r>
              <a:t>Kiran 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663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8635A"/>
                </a:solidFill>
                <a:latin typeface="DM Sans"/>
              </a:defRPr>
            </a:pPr>
            <a:r>
              <a:t>FOUNDER, AI STARTUP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C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68635A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8635A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420" y="1343660"/>
            <a:ext cx="11183112" cy="329184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280160"/>
            <a:ext cx="11183112" cy="329184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2222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mbassador-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2011680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4612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8635A"/>
                </a:solidFill>
                <a:latin typeface="DM Sans"/>
              </a:defRPr>
            </a:pPr>
            <a:r>
              <a:t>NEW CHAPTER · STUDENT AMBASSADOR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828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72520"/>
                </a:solidFill>
                <a:latin typeface="Caveat"/>
              </a:defRPr>
            </a:pPr>
            <a:r>
              <a:t>Carry the yatra to your campus.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651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35A"/>
                </a:solidFill>
                <a:latin typeface="DM Sans"/>
              </a:defRPr>
            </a:pPr>
            <a:r>
              <a:t>Rally your batch to Saturday meetups, host campus mini-sessions, and earn recognition, mentorship and speaker slots — free, always.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9620" y="3583940"/>
            <a:ext cx="2468880" cy="475488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46120" y="3520440"/>
            <a:ext cx="2468880" cy="475488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3520440"/>
            <a:ext cx="2468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Explore the program 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9204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The people behind AIYatra — Khaja Moinuddin Mohammed (Super Organizer) · Azeez Syed (Co-organizer &amp; Host) · Jagadeeswara Reddy (Host &amp; Educator)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D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68635A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8635A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914400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7A9E"/>
                </a:solidFill>
                <a:latin typeface="DM Sans"/>
              </a:defRPr>
            </a:pPr>
            <a:r>
              <a:t>ABOUT AIYATRA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72520"/>
                </a:solidFill>
                <a:latin typeface="Caveat"/>
              </a:defRPr>
            </a:pPr>
            <a:r>
              <a:t>An open door into AI, in the heart of Hyderabad.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8635A"/>
                </a:solidFill>
                <a:latin typeface="DM Sans"/>
              </a:defRPr>
            </a:pPr>
            <a:r>
              <a:t>AIYatra is for anyone exploring AI applications, diving into Artificial Intelligence: A Modern Approach, building recommender systems, or mastering machine learning with Python. Beginner or expert — you get knowledge sharing, networking, and collaborative projects.</a:t>
            </a:r>
            <a:br/>
            <a:r>
              <a:t>Led by super organizer Khaja Moinuddin Mohammed and a crew of passionate volunteers, we meet every Saturday in Hyderabad.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220" y="1252220"/>
            <a:ext cx="4782312" cy="393192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1188720"/>
            <a:ext cx="4782312" cy="393192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417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2520"/>
                </a:solidFill>
                <a:latin typeface="Caveat"/>
              </a:defRPr>
            </a:pPr>
            <a:r>
              <a:t>The essentials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965960"/>
            <a:ext cx="4050791" cy="621792"/>
          </a:xfrm>
          <a:prstGeom prst="roundRect">
            <a:avLst>
              <a:gd name="adj" fmla="val 12000"/>
            </a:avLst>
          </a:prstGeom>
          <a:solidFill>
            <a:srgbClr val="F5F1E5"/>
          </a:solidFill>
          <a:ln w="1270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99339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8635A"/>
                </a:solidFill>
                <a:latin typeface="DM Sans"/>
              </a:defRPr>
            </a:pPr>
            <a:r>
              <a:t>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1762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72520"/>
                </a:solidFill>
                <a:latin typeface="DM Sans"/>
              </a:defRPr>
            </a:pPr>
            <a:r>
              <a:t>Hyderabad · venue shared with RSVPs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2715768"/>
            <a:ext cx="4050791" cy="621792"/>
          </a:xfrm>
          <a:prstGeom prst="roundRect">
            <a:avLst>
              <a:gd name="adj" fmla="val 12000"/>
            </a:avLst>
          </a:prstGeom>
          <a:solidFill>
            <a:srgbClr val="F5F1E5"/>
          </a:solidFill>
          <a:ln w="1270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74320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8635A"/>
                </a:solidFill>
                <a:latin typeface="DM Sans"/>
              </a:defRPr>
            </a:pPr>
            <a:r>
              <a:t>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92607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72520"/>
                </a:solidFill>
                <a:latin typeface="DM Sans"/>
              </a:defRPr>
            </a:pPr>
            <a:r>
              <a:t>Saturdays · mornings, 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3465576"/>
            <a:ext cx="4050791" cy="621792"/>
          </a:xfrm>
          <a:prstGeom prst="roundRect">
            <a:avLst>
              <a:gd name="adj" fmla="val 12000"/>
            </a:avLst>
          </a:prstGeom>
          <a:solidFill>
            <a:srgbClr val="F5F1E5"/>
          </a:solidFill>
          <a:ln w="1270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349300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8635A"/>
                </a:solidFill>
                <a:latin typeface="DM Sans"/>
              </a:defRPr>
            </a:pPr>
            <a:r>
              <a:t>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675887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72520"/>
                </a:solidFill>
                <a:latin typeface="DM Sans"/>
              </a:defRPr>
            </a:pPr>
            <a:r>
              <a:t>Free, always — learning should be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4215383"/>
            <a:ext cx="4050791" cy="621792"/>
          </a:xfrm>
          <a:prstGeom prst="roundRect">
            <a:avLst>
              <a:gd name="adj" fmla="val 12000"/>
            </a:avLst>
          </a:prstGeom>
          <a:solidFill>
            <a:srgbClr val="F5F1E5"/>
          </a:solidFill>
          <a:ln w="1270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424281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8635A"/>
                </a:solidFill>
                <a:latin typeface="DM Sans"/>
              </a:defRPr>
            </a:pPr>
            <a:r>
              <a:t>BRING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42569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72520"/>
                </a:solidFill>
                <a:latin typeface="DM Sans"/>
              </a:defRPr>
            </a:pPr>
            <a:r>
              <a:t>A laptop, Python 3.10+, and curiosity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F7F1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F5E4AD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F5E4AD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2660" y="125222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60" y="118872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188720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🎟  Free forever · No prerequisites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91640"/>
            <a:ext cx="11183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9F7F1"/>
                </a:solidFill>
                <a:latin typeface="Caveat"/>
              </a:defRPr>
            </a:pPr>
            <a:r>
              <a:t>Your AI journey starts with a single RSVP.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74320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9F7F1"/>
                </a:solidFill>
                <a:latin typeface="DM Sans"/>
              </a:defRPr>
            </a:pPr>
            <a:r>
              <a:t>Join 2,957 learners democratizing AI — one meetup, one project, one breakthrough at a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340" y="353822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347472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F5E4AD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4747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72520"/>
                </a:solidFill>
                <a:latin typeface="DM Sans"/>
              </a:defRPr>
            </a:pPr>
            <a:r>
              <a:t>Join AIYatra on Meetup 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7472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 w="1905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4747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RSVP: Agentic AI, Sep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F7F1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F5E4AD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F5E4AD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05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9F7F1"/>
                </a:solidFill>
                <a:latin typeface="Caveat"/>
              </a:defRPr>
            </a:pPr>
            <a:r>
              <a:t>AI Yatra — Research. Build. Transform.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9F7F1"/>
                </a:solidFill>
                <a:latin typeface="DM Sans"/>
              </a:defRPr>
            </a:pPr>
            <a:r>
              <a:t>Hyderabad's open AI community. We research, build, and transform — one hands-on Saturday at a time. Free, forever, and open to everyone.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E4AD"/>
                </a:solidFill>
                <a:latin typeface="DM Sans"/>
              </a:defRPr>
            </a:pPr>
            <a:r>
              <a:t>EXPLORE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9F7F1"/>
                </a:solidFill>
                <a:latin typeface="DM Sans"/>
              </a:defRPr>
            </a:pPr>
            <a:r>
              <a:t>Ambassadors — new</a:t>
            </a:r>
            <a:br/>
            <a:r>
              <a:t>Blog</a:t>
            </a:r>
            <a:br/>
            <a:r>
              <a:t>Events</a:t>
            </a:r>
            <a:br/>
            <a:r>
              <a:t>Community</a:t>
            </a:r>
            <a:br/>
            <a:r>
              <a:t>Testimonials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E4AD"/>
                </a:solidFill>
                <a:latin typeface="DM Sans"/>
              </a:defRPr>
            </a:pPr>
            <a:r>
              <a:t>SHOW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6974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9F7F1"/>
                </a:solidFill>
                <a:latin typeface="DM Sans"/>
              </a:defRPr>
            </a:pPr>
            <a:r>
              <a:t>Hyderabad · venue shared with RSVPs</a:t>
            </a:r>
            <a:br/>
            <a:r>
              <a:t>Saturdays · mornings, IST</a:t>
            </a:r>
            <a:br/>
            <a:r>
              <a:t>Free, always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E4AD"/>
                </a:solidFill>
                <a:latin typeface="DM Sans"/>
              </a:defRPr>
            </a:pPr>
            <a:r>
              <a:t>FOLLOW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6974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9F7F1"/>
                </a:solidFill>
                <a:latin typeface="DM Sans"/>
              </a:defRPr>
            </a:pPr>
            <a:r>
              <a:t>global.aiyatra@gmail.com</a:t>
            </a:r>
            <a:br/>
            <a:r>
              <a:t>Meetup inbox</a:t>
            </a:r>
            <a:br/>
            <a:r>
              <a:t>GitHub: github.com/AI-Yatra</a:t>
            </a:r>
            <a:br/>
            <a:r>
              <a:t>LinkedIn: linkedin.com/company/aiyatra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E4AD"/>
                </a:solidFill>
                <a:latin typeface="DM Sans"/>
              </a:defRPr>
            </a:pPr>
            <a:r>
              <a:t>VISIT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6974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9F7F1"/>
                </a:solidFill>
                <a:latin typeface="DM Sans"/>
              </a:defRPr>
            </a:pPr>
            <a:r>
              <a:t>https://aiyatra.io</a:t>
            </a:r>
            <a:br/>
            <a:r>
              <a:t>https://aiyatra.io/ambassadors</a:t>
            </a:r>
            <a:br/>
            <a:r>
              <a:t>https://aiyatra.io/blog</a:t>
            </a:r>
            <a:br/>
            <a:r>
              <a:t>meetup.com/aiyatra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72000"/>
            <a:ext cx="11183112" cy="1051560"/>
          </a:xfrm>
          <a:prstGeom prst="roundRect">
            <a:avLst>
              <a:gd name="adj" fmla="val 10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72520"/>
                </a:solidFill>
                <a:latin typeface="DM Sans"/>
              </a:defRPr>
            </a:pPr>
            <a:r>
              <a:t>Website: https://aiyatra.io   •   LinkedIn: https://www.linkedin.com/company/aiyatra/   •   Email: global.aiyatra@gmail.com   •   Meetup: https://www.meetup.com/aiyatra/   •   Made with ♥ in Hyderabad   •   © 2026 AIYatra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